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6"/>
  </p:notesMasterIdLst>
  <p:sldIdLst>
    <p:sldId id="256" r:id="rId2"/>
    <p:sldId id="321" r:id="rId3"/>
    <p:sldId id="258" r:id="rId4"/>
    <p:sldId id="322" r:id="rId5"/>
    <p:sldId id="267" r:id="rId6"/>
    <p:sldId id="305" r:id="rId7"/>
    <p:sldId id="306" r:id="rId8"/>
    <p:sldId id="308" r:id="rId9"/>
    <p:sldId id="309" r:id="rId10"/>
    <p:sldId id="307" r:id="rId11"/>
    <p:sldId id="310" r:id="rId12"/>
    <p:sldId id="311" r:id="rId13"/>
    <p:sldId id="312" r:id="rId14"/>
    <p:sldId id="313" r:id="rId15"/>
    <p:sldId id="314" r:id="rId16"/>
    <p:sldId id="315" r:id="rId17"/>
    <p:sldId id="316" r:id="rId18"/>
    <p:sldId id="317" r:id="rId19"/>
    <p:sldId id="323" r:id="rId20"/>
    <p:sldId id="324" r:id="rId21"/>
    <p:sldId id="319" r:id="rId22"/>
    <p:sldId id="320" r:id="rId23"/>
    <p:sldId id="301" r:id="rId24"/>
    <p:sldId id="263" r:id="rId25"/>
    <p:sldId id="259" r:id="rId26"/>
    <p:sldId id="327" r:id="rId27"/>
    <p:sldId id="328" r:id="rId28"/>
    <p:sldId id="326" r:id="rId29"/>
    <p:sldId id="330" r:id="rId30"/>
    <p:sldId id="329" r:id="rId31"/>
    <p:sldId id="264" r:id="rId32"/>
    <p:sldId id="331" r:id="rId33"/>
    <p:sldId id="303" r:id="rId34"/>
    <p:sldId id="304" r:id="rId35"/>
  </p:sldIdLst>
  <p:sldSz cx="12192000" cy="68580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79" d="100"/>
          <a:sy n="79" d="100"/>
        </p:scale>
        <p:origin x="7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09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4091"/>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409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699a9e4da6_2_107:notes"/>
          <p:cNvSpPr txBox="1">
            <a:spLocks noGrp="1"/>
          </p:cNvSpPr>
          <p:nvPr>
            <p:ph type="body" idx="1"/>
          </p:nvPr>
        </p:nvSpPr>
        <p:spPr>
          <a:xfrm>
            <a:off x="385763" y="5867400"/>
            <a:ext cx="3086100" cy="48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2699a9e4da6_2_107:notes"/>
          <p:cNvSpPr>
            <a:spLocks noGrp="1" noRot="1" noChangeAspect="1"/>
          </p:cNvSpPr>
          <p:nvPr>
            <p:ph type="sldImg" idx="2"/>
          </p:nvPr>
        </p:nvSpPr>
        <p:spPr>
          <a:xfrm>
            <a:off x="-1728788" y="1524000"/>
            <a:ext cx="7315201" cy="4114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0150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7: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03f22b8c6d_0_136:notes"/>
          <p:cNvSpPr txBox="1">
            <a:spLocks noGrp="1"/>
          </p:cNvSpPr>
          <p:nvPr>
            <p:ph type="body" idx="1"/>
          </p:nvPr>
        </p:nvSpPr>
        <p:spPr>
          <a:xfrm>
            <a:off x="914400" y="3300412"/>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303f22b8c6d_0_13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05b2ef80c7_0_106:notes"/>
          <p:cNvSpPr txBox="1">
            <a:spLocks noGrp="1"/>
          </p:cNvSpPr>
          <p:nvPr>
            <p:ph type="body" idx="1"/>
          </p:nvPr>
        </p:nvSpPr>
        <p:spPr>
          <a:xfrm>
            <a:off x="914400" y="3300412"/>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05b2ef80c7_0_10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1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12: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1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2"/>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3"/>
        <p:cNvGrpSpPr/>
        <p:nvPr/>
      </p:nvGrpSpPr>
      <p:grpSpPr>
        <a:xfrm>
          <a:off x="0" y="0"/>
          <a:ext cx="0" cy="0"/>
          <a:chOff x="0" y="0"/>
          <a:chExt cx="0" cy="0"/>
        </a:xfrm>
      </p:grpSpPr>
      <p:sp>
        <p:nvSpPr>
          <p:cNvPr id="34" name="Google Shape;34;p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8" name="Google Shape;38;p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5"/>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5" name="Google Shape;45;p5"/>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6" name="Google Shape;46;p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1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1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83" name="Google Shape;83;p1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1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3"/>
          <p:cNvSpPr txBox="1">
            <a:spLocks noGrp="1"/>
          </p:cNvSpPr>
          <p:nvPr>
            <p:ph type="ctrTitle"/>
          </p:nvPr>
        </p:nvSpPr>
        <p:spPr>
          <a:xfrm>
            <a:off x="953969" y="33090"/>
            <a:ext cx="10058400" cy="3116510"/>
          </a:xfrm>
          <a:prstGeom prst="rect">
            <a:avLst/>
          </a:prstGeom>
          <a:noFill/>
          <a:ln>
            <a:noFill/>
          </a:ln>
        </p:spPr>
        <p:txBody>
          <a:bodyPr spcFirstLastPara="1" wrap="square" lIns="91425" tIns="45700" rIns="91425" bIns="45700" anchor="b" anchorCtr="0">
            <a:normAutofit/>
          </a:bodyPr>
          <a:lstStyle/>
          <a:p>
            <a:pPr lvl="0" algn="ctr">
              <a:buClr>
                <a:schemeClr val="accent2"/>
              </a:buClr>
              <a:buSzPts val="3600"/>
            </a:pPr>
            <a:br>
              <a:rPr lang="en-US" sz="4000" b="1" dirty="0">
                <a:solidFill>
                  <a:schemeClr val="accent2"/>
                </a:solidFill>
                <a:latin typeface="Times New Roman"/>
                <a:ea typeface="Times New Roman"/>
                <a:cs typeface="Times New Roman"/>
                <a:sym typeface="Times New Roman"/>
              </a:rPr>
            </a:br>
            <a:r>
              <a:rPr lang="en-US" sz="4000" b="1" dirty="0">
                <a:solidFill>
                  <a:schemeClr val="accent2"/>
                </a:solidFill>
                <a:latin typeface="Times New Roman"/>
                <a:ea typeface="Times New Roman"/>
                <a:cs typeface="Times New Roman"/>
                <a:sym typeface="Times New Roman"/>
              </a:rPr>
              <a:t>A DEEP LEARNING BASED APPROACH FOR</a:t>
            </a:r>
            <a:br>
              <a:rPr lang="en-US" sz="4000" b="1" dirty="0">
                <a:solidFill>
                  <a:schemeClr val="accent2"/>
                </a:solidFill>
                <a:latin typeface="Times New Roman"/>
                <a:ea typeface="Times New Roman"/>
                <a:cs typeface="Times New Roman"/>
                <a:sym typeface="Times New Roman"/>
              </a:rPr>
            </a:br>
            <a:r>
              <a:rPr lang="en-US" sz="4000" b="1" dirty="0">
                <a:solidFill>
                  <a:schemeClr val="accent2"/>
                </a:solidFill>
                <a:latin typeface="Times New Roman"/>
                <a:ea typeface="Times New Roman"/>
                <a:cs typeface="Times New Roman"/>
                <a:sym typeface="Times New Roman"/>
              </a:rPr>
              <a:t> SPEECH EMOTION RECOGNITION</a:t>
            </a:r>
            <a:endParaRPr lang="en-US" sz="4000" b="1" dirty="0">
              <a:solidFill>
                <a:schemeClr val="accent2"/>
              </a:solidFill>
              <a:highlight>
                <a:srgbClr val="FFFF00"/>
              </a:highlight>
              <a:latin typeface="Times New Roman"/>
              <a:ea typeface="Times New Roman"/>
              <a:cs typeface="Times New Roman"/>
              <a:sym typeface="Times New Roman"/>
            </a:endParaRPr>
          </a:p>
        </p:txBody>
      </p:sp>
      <p:sp>
        <p:nvSpPr>
          <p:cNvPr id="106" name="Google Shape;106;p13"/>
          <p:cNvSpPr txBox="1"/>
          <p:nvPr/>
        </p:nvSpPr>
        <p:spPr>
          <a:xfrm>
            <a:off x="1637511" y="4648639"/>
            <a:ext cx="2019000" cy="1364436"/>
          </a:xfrm>
          <a:prstGeom prst="rect">
            <a:avLst/>
          </a:prstGeom>
          <a:noFill/>
          <a:ln>
            <a:noFill/>
          </a:ln>
        </p:spPr>
        <p:txBody>
          <a:bodyPr spcFirstLastPara="1" wrap="square" lIns="91425" tIns="45700" rIns="91425" bIns="45700" anchor="t" anchorCtr="0">
            <a:spAutoFit/>
          </a:bodyPr>
          <a:lstStyle/>
          <a:p>
            <a:pPr marL="91440" marR="0" lvl="0" indent="0" algn="l" rtl="0">
              <a:spcBef>
                <a:spcPts val="0"/>
              </a:spcBef>
              <a:spcAft>
                <a:spcPts val="0"/>
              </a:spcAft>
              <a:buNone/>
            </a:pPr>
            <a:r>
              <a:rPr lang="en-US" dirty="0">
                <a:solidFill>
                  <a:schemeClr val="dk1"/>
                </a:solidFill>
                <a:latin typeface="Times New Roman"/>
                <a:ea typeface="Times New Roman"/>
                <a:cs typeface="Times New Roman"/>
                <a:sym typeface="Times New Roman"/>
              </a:rPr>
              <a:t>Internal supervisor</a:t>
            </a:r>
            <a:r>
              <a:rPr lang="en-US" sz="1400" b="0" i="0" u="none" strike="noStrike" cap="none" dirty="0">
                <a:solidFill>
                  <a:schemeClr val="dk1"/>
                </a:solidFill>
                <a:latin typeface="Times New Roman"/>
                <a:ea typeface="Times New Roman"/>
                <a:cs typeface="Times New Roman"/>
                <a:sym typeface="Times New Roman"/>
              </a:rPr>
              <a:t>:</a:t>
            </a:r>
            <a:endParaRPr dirty="0"/>
          </a:p>
          <a:p>
            <a:pPr marL="91440" marR="0" lvl="0" indent="0" algn="l" rtl="0">
              <a:spcBef>
                <a:spcPts val="0"/>
              </a:spcBef>
              <a:spcAft>
                <a:spcPts val="0"/>
              </a:spcAft>
              <a:buNone/>
            </a:pPr>
            <a:r>
              <a:rPr lang="en-US" sz="1400" b="0" i="0" u="none" strike="noStrike" cap="none" dirty="0">
                <a:solidFill>
                  <a:schemeClr val="dk1"/>
                </a:solidFill>
                <a:latin typeface="Times New Roman"/>
                <a:ea typeface="Times New Roman"/>
                <a:cs typeface="Times New Roman"/>
                <a:sym typeface="Times New Roman"/>
              </a:rPr>
              <a:t>Dr. Anzar S M </a:t>
            </a:r>
            <a:r>
              <a:rPr lang="en-US" dirty="0">
                <a:solidFill>
                  <a:schemeClr val="dk1"/>
                </a:solidFill>
                <a:latin typeface="Times New Roman"/>
                <a:ea typeface="Times New Roman"/>
                <a:cs typeface="Times New Roman"/>
                <a:sym typeface="Times New Roman"/>
              </a:rPr>
              <a:t> </a:t>
            </a:r>
            <a:endParaRPr sz="1400" b="0" i="0" u="none" strike="noStrike" cap="none" dirty="0">
              <a:solidFill>
                <a:schemeClr val="dk1"/>
              </a:solidFill>
              <a:latin typeface="Times New Roman"/>
              <a:ea typeface="Times New Roman"/>
              <a:cs typeface="Times New Roman"/>
              <a:sym typeface="Times New Roman"/>
            </a:endParaRPr>
          </a:p>
          <a:p>
            <a:pPr marL="91440" marR="0" lvl="0" indent="0" algn="l" rtl="0">
              <a:lnSpc>
                <a:spcPct val="50000"/>
              </a:lnSpc>
              <a:spcBef>
                <a:spcPts val="800"/>
              </a:spcBef>
              <a:spcAft>
                <a:spcPts val="0"/>
              </a:spcAft>
              <a:buNone/>
            </a:pPr>
            <a:r>
              <a:rPr lang="en-US" dirty="0">
                <a:solidFill>
                  <a:schemeClr val="dk1"/>
                </a:solidFill>
                <a:latin typeface="Times New Roman"/>
                <a:ea typeface="Times New Roman"/>
                <a:cs typeface="Times New Roman"/>
                <a:sym typeface="Times New Roman"/>
              </a:rPr>
              <a:t>Asst. </a:t>
            </a:r>
            <a:r>
              <a:rPr lang="en-US" sz="1400" b="0" i="0" u="none" strike="noStrike" cap="none" dirty="0">
                <a:solidFill>
                  <a:schemeClr val="dk1"/>
                </a:solidFill>
                <a:latin typeface="Times New Roman"/>
                <a:ea typeface="Times New Roman"/>
                <a:cs typeface="Times New Roman"/>
                <a:sym typeface="Times New Roman"/>
              </a:rPr>
              <a:t>Professor</a:t>
            </a:r>
            <a:endParaRPr lang="en-US" sz="1400" b="0" i="0" u="none" strike="noStrike" cap="none" dirty="0">
              <a:ea typeface="Times New Roman"/>
            </a:endParaRPr>
          </a:p>
          <a:p>
            <a:pPr marL="91440" marR="0" lvl="0" indent="0" algn="l" rtl="0">
              <a:lnSpc>
                <a:spcPct val="50000"/>
              </a:lnSpc>
              <a:spcBef>
                <a:spcPts val="800"/>
              </a:spcBef>
              <a:spcAft>
                <a:spcPts val="0"/>
              </a:spcAft>
              <a:buNone/>
            </a:pPr>
            <a:r>
              <a:rPr lang="en-US" dirty="0">
                <a:solidFill>
                  <a:schemeClr val="dk1"/>
                </a:solidFill>
                <a:latin typeface="Times New Roman"/>
                <a:cs typeface="Times New Roman"/>
                <a:sym typeface="Times New Roman"/>
              </a:rPr>
              <a:t>Dept of Electronics and </a:t>
            </a:r>
          </a:p>
          <a:p>
            <a:pPr marL="91440" marR="0" lvl="0" indent="0" algn="l" rtl="0">
              <a:lnSpc>
                <a:spcPct val="50000"/>
              </a:lnSpc>
              <a:spcBef>
                <a:spcPts val="800"/>
              </a:spcBef>
              <a:spcAft>
                <a:spcPts val="0"/>
              </a:spcAft>
              <a:buNone/>
            </a:pPr>
            <a:r>
              <a:rPr lang="en-US" dirty="0">
                <a:solidFill>
                  <a:schemeClr val="dk1"/>
                </a:solidFill>
                <a:latin typeface="Times New Roman"/>
                <a:cs typeface="Times New Roman"/>
                <a:sym typeface="Times New Roman"/>
              </a:rPr>
              <a:t>Communication</a:t>
            </a:r>
            <a:endParaRPr dirty="0"/>
          </a:p>
          <a:p>
            <a:pPr marL="91440" marR="0" lvl="0" indent="0" algn="l" rtl="0">
              <a:lnSpc>
                <a:spcPct val="50000"/>
              </a:lnSpc>
              <a:spcBef>
                <a:spcPts val="800"/>
              </a:spcBef>
              <a:spcAft>
                <a:spcPts val="0"/>
              </a:spcAft>
              <a:buNone/>
            </a:pPr>
            <a:r>
              <a:rPr lang="en-US" sz="1400" b="0" i="0" u="none" strike="noStrike" cap="none" dirty="0">
                <a:solidFill>
                  <a:schemeClr val="dk1"/>
                </a:solidFill>
                <a:latin typeface="Times New Roman"/>
                <a:ea typeface="Times New Roman"/>
                <a:cs typeface="Times New Roman"/>
                <a:sym typeface="Times New Roman"/>
              </a:rPr>
              <a:t>TKMCE	</a:t>
            </a:r>
            <a:endParaRPr dirty="0"/>
          </a:p>
        </p:txBody>
      </p:sp>
      <p:sp>
        <p:nvSpPr>
          <p:cNvPr id="107" name="Google Shape;107;p13"/>
          <p:cNvSpPr txBox="1"/>
          <p:nvPr/>
        </p:nvSpPr>
        <p:spPr>
          <a:xfrm>
            <a:off x="7937969" y="4286989"/>
            <a:ext cx="3074400" cy="1877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r" rtl="0">
              <a:spcBef>
                <a:spcPts val="0"/>
              </a:spcBef>
              <a:spcAft>
                <a:spcPts val="0"/>
              </a:spcAft>
              <a:buNone/>
            </a:pPr>
            <a:r>
              <a:rPr lang="en-US" sz="1400" b="0" i="0" u="none" strike="noStrike" cap="none" dirty="0">
                <a:solidFill>
                  <a:schemeClr val="dk1"/>
                </a:solidFill>
                <a:latin typeface="Times New Roman"/>
                <a:ea typeface="Times New Roman"/>
                <a:cs typeface="Times New Roman"/>
                <a:sym typeface="Times New Roman"/>
              </a:rPr>
              <a:t>Presentation by:</a:t>
            </a:r>
            <a:endParaRPr sz="1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1400"/>
              <a:buFont typeface="Times New Roman"/>
              <a:buNone/>
            </a:pPr>
            <a:r>
              <a:rPr lang="en-US" dirty="0">
                <a:latin typeface="Times New Roman"/>
                <a:cs typeface="Times New Roman"/>
                <a:sym typeface="Times New Roman"/>
              </a:rPr>
              <a:t>ALEN M JOHN</a:t>
            </a:r>
            <a:endParaRPr dirty="0"/>
          </a:p>
          <a:p>
            <a:pPr marL="0" marR="0" lvl="0" indent="0" algn="r" rtl="0">
              <a:spcBef>
                <a:spcPts val="0"/>
              </a:spcBef>
              <a:spcAft>
                <a:spcPts val="0"/>
              </a:spcAft>
              <a:buNone/>
            </a:pPr>
            <a:r>
              <a:rPr lang="en-US" sz="1400" b="0" i="0" u="none" strike="noStrike" cap="none" dirty="0">
                <a:solidFill>
                  <a:srgbClr val="0D0D1A"/>
                </a:solidFill>
                <a:latin typeface="Times New Roman"/>
                <a:ea typeface="Times New Roman"/>
                <a:cs typeface="Times New Roman"/>
                <a:sym typeface="Times New Roman"/>
              </a:rPr>
              <a:t>AI </a:t>
            </a:r>
            <a:r>
              <a:rPr lang="en-US" dirty="0">
                <a:solidFill>
                  <a:srgbClr val="0D0D1A"/>
                </a:solidFill>
                <a:latin typeface="Times New Roman"/>
                <a:ea typeface="Times New Roman"/>
                <a:cs typeface="Times New Roman"/>
                <a:sym typeface="Times New Roman"/>
              </a:rPr>
              <a:t>04</a:t>
            </a:r>
            <a:endParaRPr sz="1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1400"/>
              <a:buFont typeface="Times New Roman"/>
              <a:buNone/>
            </a:pPr>
            <a:r>
              <a:rPr lang="en-US" sz="1400" b="0" i="0" u="none" strike="noStrike" cap="none" dirty="0">
                <a:solidFill>
                  <a:srgbClr val="000000"/>
                </a:solidFill>
                <a:latin typeface="Times New Roman"/>
                <a:ea typeface="Times New Roman"/>
                <a:cs typeface="Times New Roman"/>
                <a:sym typeface="Times New Roman"/>
              </a:rPr>
              <a:t>PG2 - </a:t>
            </a:r>
            <a:r>
              <a:rPr lang="en-US" sz="1400" b="0" i="0" u="none" strike="noStrike" cap="none" dirty="0" err="1">
                <a:solidFill>
                  <a:srgbClr val="000000"/>
                </a:solidFill>
                <a:latin typeface="Times New Roman"/>
                <a:ea typeface="Times New Roman"/>
                <a:cs typeface="Times New Roman"/>
                <a:sym typeface="Times New Roman"/>
              </a:rPr>
              <a:t>M.Tech</a:t>
            </a:r>
            <a:r>
              <a:rPr lang="en-US" sz="1400" b="0" i="0" u="none" strike="noStrike" cap="none" dirty="0">
                <a:solidFill>
                  <a:srgbClr val="000000"/>
                </a:solidFill>
                <a:latin typeface="Times New Roman"/>
                <a:ea typeface="Times New Roman"/>
                <a:cs typeface="Times New Roman"/>
                <a:sym typeface="Times New Roman"/>
              </a:rPr>
              <a:t> in AI</a:t>
            </a:r>
            <a:endParaRPr dirty="0"/>
          </a:p>
          <a:p>
            <a:pPr marL="0" marR="0" lvl="0" indent="0" algn="r" rtl="0">
              <a:lnSpc>
                <a:spcPct val="100000"/>
              </a:lnSpc>
              <a:spcBef>
                <a:spcPts val="0"/>
              </a:spcBef>
              <a:spcAft>
                <a:spcPts val="0"/>
              </a:spcAft>
              <a:buClr>
                <a:srgbClr val="000000"/>
              </a:buClr>
              <a:buSzPts val="1400"/>
              <a:buFont typeface="Times New Roman"/>
              <a:buNone/>
            </a:pPr>
            <a:r>
              <a:rPr lang="en-US" sz="1400" b="0" i="0" u="none" strike="noStrike" cap="none" dirty="0">
                <a:solidFill>
                  <a:srgbClr val="000000"/>
                </a:solidFill>
                <a:latin typeface="Times New Roman"/>
                <a:ea typeface="Times New Roman"/>
                <a:cs typeface="Times New Roman"/>
                <a:sym typeface="Times New Roman"/>
              </a:rPr>
              <a:t>Centre for Artificial Intelligence</a:t>
            </a:r>
            <a:endParaRPr dirty="0"/>
          </a:p>
          <a:p>
            <a:pPr marL="0" marR="0" lvl="0" indent="0" algn="r" rtl="0">
              <a:lnSpc>
                <a:spcPct val="100000"/>
              </a:lnSpc>
              <a:spcBef>
                <a:spcPts val="0"/>
              </a:spcBef>
              <a:spcAft>
                <a:spcPts val="0"/>
              </a:spcAft>
              <a:buClr>
                <a:srgbClr val="000000"/>
              </a:buClr>
              <a:buSzPts val="1400"/>
              <a:buFont typeface="Times New Roman"/>
              <a:buNone/>
            </a:pPr>
            <a:r>
              <a:rPr lang="en-US" sz="1400" b="0" i="0" u="none" strike="noStrike" cap="none" dirty="0">
                <a:solidFill>
                  <a:srgbClr val="000000"/>
                </a:solidFill>
                <a:latin typeface="Times New Roman"/>
                <a:ea typeface="Times New Roman"/>
                <a:cs typeface="Times New Roman"/>
                <a:sym typeface="Times New Roman"/>
              </a:rPr>
              <a:t>TKMCE</a:t>
            </a:r>
            <a:endParaRPr sz="1400" b="0" i="0" u="none" strike="noStrike" cap="none" dirty="0">
              <a:solidFill>
                <a:schemeClr val="dk1"/>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chemeClr val="dk1"/>
              </a:buClr>
              <a:buSzPts val="1600"/>
              <a:buFont typeface="Calibri"/>
              <a:buNone/>
            </a:pPr>
            <a:endParaRPr sz="1600" b="0" i="0" u="none" strike="noStrike" cap="none" dirty="0">
              <a:solidFill>
                <a:schemeClr val="dk1"/>
              </a:solidFill>
              <a:latin typeface="Times New Roman"/>
              <a:ea typeface="Times New Roman"/>
              <a:cs typeface="Times New Roman"/>
              <a:sym typeface="Times New Roman"/>
            </a:endParaRPr>
          </a:p>
        </p:txBody>
      </p:sp>
      <p:sp>
        <p:nvSpPr>
          <p:cNvPr id="108" name="Google Shape;108;p13"/>
          <p:cNvSpPr txBox="1"/>
          <p:nvPr/>
        </p:nvSpPr>
        <p:spPr>
          <a:xfrm>
            <a:off x="4656465" y="4799659"/>
            <a:ext cx="2653619"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Mini Project</a:t>
            </a:r>
            <a:endParaRPr dirty="0"/>
          </a:p>
          <a:p>
            <a:pPr marL="0" marR="0" lvl="0" indent="0" algn="ctr" rtl="0">
              <a:spcBef>
                <a:spcPts val="0"/>
              </a:spcBef>
              <a:spcAft>
                <a:spcPts val="0"/>
              </a:spcAft>
              <a:buNone/>
            </a:pPr>
            <a:r>
              <a:rPr lang="en-IN" sz="1800" b="1" dirty="0">
                <a:solidFill>
                  <a:schemeClr val="dk1"/>
                </a:solidFill>
                <a:latin typeface="Times New Roman"/>
                <a:ea typeface="Times New Roman"/>
                <a:cs typeface="Times New Roman"/>
                <a:sym typeface="Times New Roman"/>
              </a:rPr>
              <a:t>Final Evaluation </a:t>
            </a:r>
            <a:endParaRPr dirty="0"/>
          </a:p>
          <a:p>
            <a:pPr marL="0" marR="0" lvl="0" indent="0" algn="ctr" rtl="0">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09.</a:t>
            </a:r>
            <a:r>
              <a:rPr lang="en-US" sz="1800" b="1" dirty="0">
                <a:solidFill>
                  <a:schemeClr val="dk1"/>
                </a:solidFill>
                <a:latin typeface="Times New Roman"/>
                <a:ea typeface="Times New Roman"/>
                <a:cs typeface="Times New Roman"/>
                <a:sym typeface="Times New Roman"/>
              </a:rPr>
              <a:t>05</a:t>
            </a:r>
            <a:r>
              <a:rPr lang="en-US" sz="1800" b="1" i="0" u="none" strike="noStrike" cap="none" dirty="0">
                <a:solidFill>
                  <a:schemeClr val="dk1"/>
                </a:solidFill>
                <a:latin typeface="Times New Roman"/>
                <a:ea typeface="Times New Roman"/>
                <a:cs typeface="Times New Roman"/>
                <a:sym typeface="Times New Roman"/>
              </a:rPr>
              <a:t>.2025</a:t>
            </a:r>
            <a:endParaRPr sz="1800" b="1" i="0" u="none" strike="noStrike" cap="none" dirty="0">
              <a:solidFill>
                <a:schemeClr val="dk1"/>
              </a:solidFill>
              <a:latin typeface="Times New Roman"/>
              <a:ea typeface="Times New Roman"/>
              <a:cs typeface="Times New Roman"/>
              <a:sym typeface="Times New Roman"/>
            </a:endParaRPr>
          </a:p>
        </p:txBody>
      </p:sp>
      <p:sp>
        <p:nvSpPr>
          <p:cNvPr id="109" name="Google Shape;109;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200">
                <a:latin typeface="Times New Roman"/>
                <a:ea typeface="Times New Roman"/>
                <a:cs typeface="Times New Roman"/>
                <a:sym typeface="Times New Roman"/>
              </a:rPr>
              <a:t>CENTRE FOR ARTIFICIAL INTELLIGENCE, TKMCE</a:t>
            </a:r>
            <a:endParaRPr/>
          </a:p>
        </p:txBody>
      </p:sp>
      <p:sp>
        <p:nvSpPr>
          <p:cNvPr id="110" name="Google Shape;110;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a:t>1</a:t>
            </a:fld>
            <a:endParaRPr sz="1400"/>
          </a:p>
        </p:txBody>
      </p:sp>
      <p:pic>
        <p:nvPicPr>
          <p:cNvPr id="111" name="Google Shape;111;p13"/>
          <p:cNvPicPr preferRelativeResize="0"/>
          <p:nvPr/>
        </p:nvPicPr>
        <p:blipFill rotWithShape="1">
          <a:blip r:embed="rId3">
            <a:alphaModFix/>
          </a:blip>
          <a:srcRect/>
          <a:stretch/>
        </p:blipFill>
        <p:spPr>
          <a:xfrm>
            <a:off x="806779" y="355975"/>
            <a:ext cx="1217255" cy="1175486"/>
          </a:xfrm>
          <a:prstGeom prst="rect">
            <a:avLst/>
          </a:prstGeom>
          <a:noFill/>
          <a:ln>
            <a:noFill/>
          </a:ln>
        </p:spPr>
      </p:pic>
      <p:pic>
        <p:nvPicPr>
          <p:cNvPr id="112" name="Google Shape;112;p13"/>
          <p:cNvPicPr preferRelativeResize="0"/>
          <p:nvPr/>
        </p:nvPicPr>
        <p:blipFill rotWithShape="1">
          <a:blip r:embed="rId4">
            <a:alphaModFix/>
          </a:blip>
          <a:srcRect/>
          <a:stretch/>
        </p:blipFill>
        <p:spPr>
          <a:xfrm>
            <a:off x="2301565" y="294724"/>
            <a:ext cx="1532446" cy="1252761"/>
          </a:xfrm>
          <a:prstGeom prst="rect">
            <a:avLst/>
          </a:prstGeom>
          <a:noFill/>
          <a:ln>
            <a:noFill/>
          </a:ln>
        </p:spPr>
      </p:pic>
      <p:pic>
        <p:nvPicPr>
          <p:cNvPr id="113" name="Google Shape;113;p13"/>
          <p:cNvPicPr preferRelativeResize="0"/>
          <p:nvPr/>
        </p:nvPicPr>
        <p:blipFill rotWithShape="1">
          <a:blip r:embed="rId5">
            <a:alphaModFix/>
          </a:blip>
          <a:srcRect/>
          <a:stretch/>
        </p:blipFill>
        <p:spPr>
          <a:xfrm>
            <a:off x="10763512" y="294724"/>
            <a:ext cx="1135121" cy="1386749"/>
          </a:xfrm>
          <a:prstGeom prst="rect">
            <a:avLst/>
          </a:prstGeom>
          <a:noFill/>
          <a:ln>
            <a:noFill/>
          </a:ln>
        </p:spPr>
      </p:pic>
      <p:cxnSp>
        <p:nvCxnSpPr>
          <p:cNvPr id="115" name="Google Shape;115;p13"/>
          <p:cNvCxnSpPr/>
          <p:nvPr/>
        </p:nvCxnSpPr>
        <p:spPr>
          <a:xfrm>
            <a:off x="8203836" y="4507272"/>
            <a:ext cx="0" cy="1508105"/>
          </a:xfrm>
          <a:prstGeom prst="straightConnector1">
            <a:avLst/>
          </a:prstGeom>
          <a:noFill/>
          <a:ln w="12700" cap="flat" cmpd="sng">
            <a:solidFill>
              <a:schemeClr val="accent1"/>
            </a:solidFill>
            <a:prstDash val="solid"/>
            <a:round/>
            <a:headEnd type="none" w="sm" len="sm"/>
            <a:tailEnd type="none" w="sm" len="sm"/>
          </a:ln>
        </p:spPr>
      </p:cxnSp>
      <p:cxnSp>
        <p:nvCxnSpPr>
          <p:cNvPr id="2" name="Google Shape;115;p13">
            <a:extLst>
              <a:ext uri="{FF2B5EF4-FFF2-40B4-BE49-F238E27FC236}">
                <a16:creationId xmlns:a16="http://schemas.microsoft.com/office/drawing/2014/main" id="{DC69F458-4350-D9C0-200E-5C536F037759}"/>
              </a:ext>
            </a:extLst>
          </p:cNvPr>
          <p:cNvCxnSpPr/>
          <p:nvPr/>
        </p:nvCxnSpPr>
        <p:spPr>
          <a:xfrm>
            <a:off x="3938348" y="4471786"/>
            <a:ext cx="0" cy="1508105"/>
          </a:xfrm>
          <a:prstGeom prst="straightConnector1">
            <a:avLst/>
          </a:prstGeom>
          <a:noFill/>
          <a:ln w="12700" cap="flat" cmpd="sng">
            <a:solidFill>
              <a:schemeClr val="accent1"/>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1097280" y="286603"/>
            <a:ext cx="10058400" cy="1450757"/>
          </a:xfrm>
          <a:prstGeom prst="rect">
            <a:avLst/>
          </a:prstGeom>
          <a:noFill/>
          <a:ln>
            <a:noFill/>
          </a:ln>
        </p:spPr>
        <p:txBody>
          <a:bodyPr spcFirstLastPara="1" wrap="square" lIns="91433" tIns="45700" rIns="91433" bIns="45700" anchor="b" anchorCtr="0">
            <a:normAutofit/>
          </a:bodyPr>
          <a:lstStyle/>
          <a:p>
            <a:pPr>
              <a:buClr>
                <a:srgbClr val="0070C0"/>
              </a:buClr>
              <a:buSzPts val="3600"/>
            </a:pPr>
            <a:r>
              <a:rPr lang="en-GB" dirty="0">
                <a:solidFill>
                  <a:srgbClr val="0070C0"/>
                </a:solidFill>
                <a:latin typeface="Times New Roman"/>
                <a:ea typeface="Times New Roman"/>
                <a:cs typeface="Times New Roman"/>
                <a:sym typeface="Times New Roman"/>
              </a:rPr>
              <a:t>Contents</a:t>
            </a:r>
            <a:endParaRPr dirty="0">
              <a:solidFill>
                <a:srgbClr val="0070C0"/>
              </a:solidFill>
              <a:latin typeface="Times New Roman"/>
              <a:ea typeface="Times New Roman"/>
              <a:cs typeface="Times New Roman"/>
              <a:sym typeface="Times New Roman"/>
            </a:endParaRPr>
          </a:p>
        </p:txBody>
      </p:sp>
      <p:sp>
        <p:nvSpPr>
          <p:cNvPr id="162" name="Google Shape;162;p26"/>
          <p:cNvSpPr txBox="1">
            <a:spLocks noGrp="1"/>
          </p:cNvSpPr>
          <p:nvPr>
            <p:ph type="body" idx="1"/>
          </p:nvPr>
        </p:nvSpPr>
        <p:spPr>
          <a:xfrm>
            <a:off x="1097280" y="1845734"/>
            <a:ext cx="10058400" cy="4375957"/>
          </a:xfrm>
          <a:prstGeom prst="rect">
            <a:avLst/>
          </a:prstGeom>
          <a:noFill/>
          <a:ln>
            <a:noFill/>
          </a:ln>
        </p:spPr>
        <p:txBody>
          <a:bodyPr spcFirstLastPara="1" wrap="square" lIns="0" tIns="45700" rIns="0" bIns="45700" anchor="t" anchorCtr="0">
            <a:normAutofit fontScale="85000" lnSpcReduction="10000"/>
          </a:bodyPr>
          <a:lstStyle/>
          <a:p>
            <a:pPr marL="84665" indent="-152396" algn="just">
              <a:lnSpc>
                <a:spcPct val="150000"/>
              </a:lnSpc>
              <a:spcBef>
                <a:spcPts val="0"/>
              </a:spcBef>
              <a:buFont typeface="Noto Sans Symbols"/>
              <a:buChar char="❑"/>
            </a:pPr>
            <a:r>
              <a:rPr lang="en-GB" sz="2400" b="1" dirty="0">
                <a:solidFill>
                  <a:schemeClr val="dk1"/>
                </a:solidFill>
                <a:latin typeface="Times New Roman"/>
                <a:ea typeface="Times New Roman"/>
                <a:cs typeface="Times New Roman"/>
                <a:sym typeface="Times New Roman"/>
              </a:rPr>
              <a:t> Introduction</a:t>
            </a:r>
            <a:endParaRPr lang="en-GB" sz="2400" b="1" dirty="0">
              <a:solidFill>
                <a:schemeClr val="dk1"/>
              </a:solidFill>
              <a:latin typeface="Times New Roman"/>
              <a:cs typeface="Times New Roman"/>
              <a:sym typeface="Times New Roman"/>
            </a:endParaRPr>
          </a:p>
          <a:p>
            <a:pPr marL="84665" indent="-152396" algn="just">
              <a:lnSpc>
                <a:spcPct val="150000"/>
              </a:lnSpc>
              <a:spcBef>
                <a:spcPts val="0"/>
              </a:spcBef>
              <a:buFont typeface="Noto Sans Symbols"/>
              <a:buChar char="❑"/>
            </a:pPr>
            <a:r>
              <a:rPr lang="en-GB" sz="2400" b="1" dirty="0">
                <a:solidFill>
                  <a:schemeClr val="dk1"/>
                </a:solidFill>
                <a:latin typeface="Times New Roman"/>
                <a:cs typeface="Times New Roman"/>
                <a:sym typeface="Times New Roman"/>
              </a:rPr>
              <a:t> Literature Review</a:t>
            </a:r>
          </a:p>
          <a:p>
            <a:pPr marL="84665" indent="-152396" algn="just">
              <a:lnSpc>
                <a:spcPct val="150000"/>
              </a:lnSpc>
              <a:spcBef>
                <a:spcPts val="0"/>
              </a:spcBef>
              <a:buFont typeface="Noto Sans Symbols"/>
              <a:buChar char="❑"/>
            </a:pPr>
            <a:r>
              <a:rPr lang="en-GB" sz="2400" b="1" dirty="0">
                <a:solidFill>
                  <a:schemeClr val="dk1"/>
                </a:solidFill>
                <a:latin typeface="Times New Roman"/>
                <a:cs typeface="Times New Roman"/>
                <a:sym typeface="Times New Roman"/>
              </a:rPr>
              <a:t> Research Gaps Identified</a:t>
            </a:r>
            <a:endParaRPr lang="en-GB" sz="2400" dirty="0"/>
          </a:p>
          <a:p>
            <a:pPr marL="84665" indent="-152396" algn="just">
              <a:lnSpc>
                <a:spcPct val="150000"/>
              </a:lnSpc>
              <a:spcBef>
                <a:spcPts val="0"/>
              </a:spcBef>
              <a:buFont typeface="Noto Sans Symbols"/>
              <a:buChar char="❑"/>
            </a:pPr>
            <a:r>
              <a:rPr lang="en-GB" sz="2400" b="1" dirty="0">
                <a:solidFill>
                  <a:schemeClr val="dk1"/>
                </a:solidFill>
                <a:latin typeface="Times New Roman"/>
                <a:ea typeface="Times New Roman"/>
                <a:cs typeface="Times New Roman"/>
                <a:sym typeface="Times New Roman"/>
              </a:rPr>
              <a:t> Objective</a:t>
            </a:r>
            <a:endParaRPr lang="en-GB" sz="2400" dirty="0">
              <a:ea typeface="Times New Roman"/>
            </a:endParaRPr>
          </a:p>
          <a:p>
            <a:pPr marL="84665" indent="-152396" algn="just">
              <a:lnSpc>
                <a:spcPct val="150000"/>
              </a:lnSpc>
              <a:spcBef>
                <a:spcPts val="0"/>
              </a:spcBef>
              <a:buFont typeface="Noto Sans Symbols"/>
              <a:buChar char="❑"/>
            </a:pPr>
            <a:r>
              <a:rPr lang="en-GB" sz="2400" b="1" dirty="0">
                <a:solidFill>
                  <a:schemeClr val="dk1"/>
                </a:solidFill>
                <a:latin typeface="Times New Roman"/>
                <a:ea typeface="Times New Roman"/>
                <a:cs typeface="Times New Roman"/>
                <a:sym typeface="Times New Roman"/>
              </a:rPr>
              <a:t> Methodology</a:t>
            </a:r>
            <a:endParaRPr lang="en-GB" sz="2400" dirty="0">
              <a:ea typeface="Times New Roman"/>
            </a:endParaRPr>
          </a:p>
          <a:p>
            <a:pPr marL="84665" indent="-152396" algn="just">
              <a:lnSpc>
                <a:spcPct val="150000"/>
              </a:lnSpc>
              <a:spcBef>
                <a:spcPts val="0"/>
              </a:spcBef>
              <a:buFont typeface="Noto Sans Symbols"/>
              <a:buChar char="❑"/>
            </a:pPr>
            <a:r>
              <a:rPr lang="en-GB" sz="2400" b="1" dirty="0">
                <a:solidFill>
                  <a:schemeClr val="dk1"/>
                </a:solidFill>
                <a:latin typeface="Times New Roman"/>
                <a:ea typeface="Times New Roman"/>
                <a:cs typeface="Times New Roman"/>
                <a:sym typeface="Times New Roman"/>
              </a:rPr>
              <a:t> Dataset</a:t>
            </a:r>
          </a:p>
          <a:p>
            <a:pPr marL="84665" indent="-152396" algn="just">
              <a:lnSpc>
                <a:spcPct val="150000"/>
              </a:lnSpc>
              <a:spcBef>
                <a:spcPts val="0"/>
              </a:spcBef>
              <a:buFont typeface="Noto Sans Symbols"/>
              <a:buChar char="❑"/>
            </a:pPr>
            <a:r>
              <a:rPr lang="en-GB" sz="2400" b="1" dirty="0">
                <a:latin typeface="Times New Roman" panose="02020603050405020304" pitchFamily="18" charset="0"/>
                <a:ea typeface="Times New Roman"/>
                <a:cs typeface="Times New Roman" panose="02020603050405020304" pitchFamily="18" charset="0"/>
              </a:rPr>
              <a:t> Results and Discussion</a:t>
            </a:r>
          </a:p>
          <a:p>
            <a:pPr marL="84665" indent="-152396" algn="just">
              <a:lnSpc>
                <a:spcPct val="150000"/>
              </a:lnSpc>
              <a:spcBef>
                <a:spcPts val="0"/>
              </a:spcBef>
              <a:buFont typeface="Noto Sans Symbols"/>
              <a:buChar char="❑"/>
            </a:pPr>
            <a:r>
              <a:rPr lang="en-GB" sz="2400" b="1" dirty="0">
                <a:solidFill>
                  <a:schemeClr val="dk1"/>
                </a:solidFill>
                <a:latin typeface="Times New Roman"/>
                <a:ea typeface="Times New Roman"/>
                <a:cs typeface="Times New Roman"/>
                <a:sym typeface="Times New Roman"/>
              </a:rPr>
              <a:t> Conclusion</a:t>
            </a:r>
          </a:p>
          <a:p>
            <a:pPr marL="84665" indent="-152396" algn="just">
              <a:lnSpc>
                <a:spcPct val="150000"/>
              </a:lnSpc>
              <a:spcBef>
                <a:spcPts val="0"/>
              </a:spcBef>
              <a:buFont typeface="Noto Sans Symbols"/>
              <a:buChar char="❑"/>
            </a:pPr>
            <a:r>
              <a:rPr lang="en-GB" sz="2400" b="1" dirty="0">
                <a:latin typeface="Times New Roman" panose="02020603050405020304" pitchFamily="18" charset="0"/>
                <a:ea typeface="Times New Roman"/>
                <a:cs typeface="Times New Roman" panose="02020603050405020304" pitchFamily="18" charset="0"/>
              </a:rPr>
              <a:t> Future Scope</a:t>
            </a:r>
          </a:p>
          <a:p>
            <a:pPr marL="84665" indent="-152396" algn="just">
              <a:lnSpc>
                <a:spcPct val="150000"/>
              </a:lnSpc>
              <a:spcBef>
                <a:spcPts val="0"/>
              </a:spcBef>
              <a:buFont typeface="Noto Sans Symbols"/>
              <a:buChar char="❑"/>
            </a:pPr>
            <a:r>
              <a:rPr lang="en-GB" sz="2400" b="1" dirty="0">
                <a:solidFill>
                  <a:schemeClr val="dk1"/>
                </a:solidFill>
                <a:latin typeface="Times New Roman"/>
                <a:ea typeface="Times New Roman"/>
                <a:cs typeface="Times New Roman"/>
                <a:sym typeface="Times New Roman"/>
              </a:rPr>
              <a:t> References</a:t>
            </a:r>
            <a:endParaRPr sz="2400" b="1" dirty="0">
              <a:solidFill>
                <a:schemeClr val="dk1"/>
              </a:solidFill>
              <a:latin typeface="Times New Roman"/>
              <a:ea typeface="Times New Roman"/>
              <a:cs typeface="Times New Roman"/>
              <a:sym typeface="Times New Roman"/>
            </a:endParaRPr>
          </a:p>
        </p:txBody>
      </p:sp>
      <p:sp>
        <p:nvSpPr>
          <p:cNvPr id="163" name="Google Shape;163;p26"/>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2</a:t>
            </a:fld>
            <a:endParaRPr/>
          </a:p>
        </p:txBody>
      </p:sp>
      <p:sp>
        <p:nvSpPr>
          <p:cNvPr id="164" name="Google Shape;164;p26"/>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a:latin typeface="Times New Roman"/>
                <a:ea typeface="Times New Roman"/>
                <a:cs typeface="Times New Roman"/>
                <a:sym typeface="Times New Roman"/>
              </a:rPr>
              <a:t>CENTRE FOR ARTIFICIAL INTELLIGENCE, TKMCE</a:t>
            </a:r>
            <a:endParaRPr sz="1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5"/>
          <p:cNvSpPr txBox="1">
            <a:spLocks noGrp="1"/>
          </p:cNvSpPr>
          <p:nvPr>
            <p:ph type="title"/>
          </p:nvPr>
        </p:nvSpPr>
        <p:spPr>
          <a:xfrm>
            <a:off x="1066793" y="24405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accent2"/>
              </a:buClr>
              <a:buSzPts val="4800"/>
              <a:buFont typeface="Times New Roman"/>
              <a:buNone/>
            </a:pPr>
            <a:r>
              <a:rPr lang="en-US" b="1" u="sng" dirty="0">
                <a:solidFill>
                  <a:schemeClr val="accent2"/>
                </a:solidFill>
                <a:latin typeface="Times New Roman"/>
                <a:ea typeface="Times New Roman"/>
                <a:cs typeface="Times New Roman"/>
                <a:sym typeface="Times New Roman"/>
              </a:rPr>
              <a:t>Introduction</a:t>
            </a:r>
            <a:endParaRPr b="1" u="sng" dirty="0">
              <a:solidFill>
                <a:schemeClr val="accent2"/>
              </a:solidFill>
              <a:highlight>
                <a:srgbClr val="FFFF00"/>
              </a:highlight>
              <a:latin typeface="Times New Roman"/>
              <a:ea typeface="Times New Roman"/>
              <a:cs typeface="Times New Roman"/>
              <a:sym typeface="Times New Roman"/>
            </a:endParaRPr>
          </a:p>
        </p:txBody>
      </p:sp>
      <p:sp>
        <p:nvSpPr>
          <p:cNvPr id="131" name="Google Shape;131;p15"/>
          <p:cNvSpPr txBox="1">
            <a:spLocks noGrp="1"/>
          </p:cNvSpPr>
          <p:nvPr>
            <p:ph type="body" idx="1"/>
          </p:nvPr>
        </p:nvSpPr>
        <p:spPr>
          <a:xfrm>
            <a:off x="985520" y="1831447"/>
            <a:ext cx="10678160" cy="4253397"/>
          </a:xfrm>
          <a:prstGeom prst="rect">
            <a:avLst/>
          </a:prstGeom>
          <a:noFill/>
          <a:ln>
            <a:noFill/>
          </a:ln>
        </p:spPr>
        <p:txBody>
          <a:bodyPr spcFirstLastPara="1" wrap="square" lIns="0" tIns="45700" rIns="0" bIns="45700" anchor="t" anchorCtr="0">
            <a:noAutofit/>
          </a:bodyPr>
          <a:lstStyle/>
          <a:p>
            <a:pPr marL="434340" algn="just">
              <a:lnSpc>
                <a:spcPct val="100000"/>
              </a:lnSpc>
              <a:spcBef>
                <a:spcPts val="1000"/>
              </a:spcBef>
              <a:buFont typeface="Wingdings" panose="05000000000000000000" pitchFamily="2" charset="2"/>
              <a:buChar char="v"/>
            </a:pPr>
            <a:r>
              <a:rPr lang="en-US" dirty="0">
                <a:solidFill>
                  <a:schemeClr val="dk1"/>
                </a:solidFill>
                <a:latin typeface="Times New Roman"/>
                <a:ea typeface="Times New Roman"/>
                <a:cs typeface="Times New Roman"/>
                <a:sym typeface="Times New Roman"/>
              </a:rPr>
              <a:t>Emotion recognition from speech aims to analyze and classify human emotions based on voice signals.</a:t>
            </a:r>
          </a:p>
          <a:p>
            <a:pPr marL="434340" algn="just">
              <a:lnSpc>
                <a:spcPct val="100000"/>
              </a:lnSpc>
              <a:spcBef>
                <a:spcPts val="1000"/>
              </a:spcBef>
              <a:buFont typeface="Wingdings" panose="05000000000000000000" pitchFamily="2" charset="2"/>
              <a:buChar char="v"/>
            </a:pPr>
            <a:r>
              <a:rPr lang="en-US" dirty="0">
                <a:solidFill>
                  <a:schemeClr val="dk1"/>
                </a:solidFill>
                <a:latin typeface="Times New Roman"/>
                <a:ea typeface="Times New Roman"/>
                <a:cs typeface="Times New Roman"/>
                <a:sym typeface="Times New Roman"/>
              </a:rPr>
              <a:t>Speech conveys emotional cues through variations in tone, pitch, intensity, and rhythm.</a:t>
            </a:r>
          </a:p>
          <a:p>
            <a:pPr marL="434340" algn="just">
              <a:lnSpc>
                <a:spcPct val="100000"/>
              </a:lnSpc>
              <a:spcBef>
                <a:spcPts val="1000"/>
              </a:spcBef>
              <a:buFont typeface="Wingdings" panose="05000000000000000000" pitchFamily="2" charset="2"/>
              <a:buChar char="v"/>
            </a:pPr>
            <a:r>
              <a:rPr lang="en-US" dirty="0">
                <a:solidFill>
                  <a:schemeClr val="dk1"/>
                </a:solidFill>
                <a:latin typeface="Times New Roman"/>
                <a:ea typeface="Times New Roman"/>
                <a:cs typeface="Times New Roman"/>
                <a:sym typeface="Times New Roman"/>
              </a:rPr>
              <a:t>It plays a key role in human-computer interaction, enhancing virtual assistants, customer service systems, and mental health monitoring.</a:t>
            </a:r>
          </a:p>
          <a:p>
            <a:pPr marL="434340" algn="just">
              <a:lnSpc>
                <a:spcPct val="100000"/>
              </a:lnSpc>
              <a:spcBef>
                <a:spcPts val="1000"/>
              </a:spcBef>
              <a:buFont typeface="Wingdings" panose="05000000000000000000" pitchFamily="2" charset="2"/>
              <a:buChar char="v"/>
            </a:pPr>
            <a:r>
              <a:rPr lang="en-US" dirty="0">
                <a:solidFill>
                  <a:schemeClr val="dk1"/>
                </a:solidFill>
                <a:latin typeface="Times New Roman"/>
                <a:ea typeface="Times New Roman"/>
                <a:cs typeface="Times New Roman"/>
                <a:sym typeface="Times New Roman"/>
              </a:rPr>
              <a:t>Earlier methods used handcrafted features, but modern approaches use deep learning to learn emotional patterns directly from data.</a:t>
            </a:r>
          </a:p>
          <a:p>
            <a:pPr marL="434340" algn="just">
              <a:lnSpc>
                <a:spcPct val="100000"/>
              </a:lnSpc>
              <a:spcBef>
                <a:spcPts val="1000"/>
              </a:spcBef>
              <a:buFont typeface="Wingdings" panose="05000000000000000000" pitchFamily="2" charset="2"/>
              <a:buChar char="v"/>
            </a:pPr>
            <a:r>
              <a:rPr lang="en-US" dirty="0">
                <a:solidFill>
                  <a:schemeClr val="dk1"/>
                </a:solidFill>
                <a:latin typeface="Times New Roman"/>
                <a:ea typeface="Times New Roman"/>
                <a:cs typeface="Times New Roman"/>
                <a:sym typeface="Times New Roman"/>
              </a:rPr>
              <a:t>The main challenges in SER include speaker variability, background noise, and diverse emotional expressions.</a:t>
            </a:r>
          </a:p>
          <a:p>
            <a:pPr marL="434340" algn="just">
              <a:lnSpc>
                <a:spcPct val="100000"/>
              </a:lnSpc>
              <a:spcBef>
                <a:spcPts val="1000"/>
              </a:spcBef>
              <a:buFont typeface="Wingdings" panose="05000000000000000000" pitchFamily="2" charset="2"/>
              <a:buChar char="v"/>
            </a:pPr>
            <a:r>
              <a:rPr lang="en-US" dirty="0">
                <a:solidFill>
                  <a:schemeClr val="dk1"/>
                </a:solidFill>
                <a:latin typeface="Times New Roman"/>
                <a:ea typeface="Times New Roman"/>
                <a:cs typeface="Times New Roman"/>
                <a:sym typeface="Times New Roman"/>
              </a:rPr>
              <a:t>Recent advancements in deep learning, especially Transformer-based models, have improved accuracy by effectively capturing contextual and temporal patterns in speech.</a:t>
            </a:r>
          </a:p>
          <a:p>
            <a:pPr marL="434340" algn="just">
              <a:lnSpc>
                <a:spcPct val="100000"/>
              </a:lnSpc>
              <a:spcBef>
                <a:spcPts val="1000"/>
              </a:spcBef>
              <a:buFont typeface="Wingdings" panose="05000000000000000000" pitchFamily="2" charset="2"/>
              <a:buChar char="v"/>
            </a:pPr>
            <a:endParaRPr lang="en-US" dirty="0">
              <a:solidFill>
                <a:schemeClr val="dk1"/>
              </a:solidFill>
              <a:latin typeface="Times New Roman"/>
              <a:ea typeface="Times New Roman"/>
              <a:cs typeface="Times New Roman"/>
              <a:sym typeface="Times New Roman"/>
            </a:endParaRPr>
          </a:p>
          <a:p>
            <a:pPr marL="0" lvl="0" indent="0" algn="just" rtl="0">
              <a:lnSpc>
                <a:spcPct val="100000"/>
              </a:lnSpc>
              <a:spcBef>
                <a:spcPts val="1000"/>
              </a:spcBef>
              <a:spcAft>
                <a:spcPts val="0"/>
              </a:spcAft>
              <a:buNone/>
            </a:pPr>
            <a:endParaRPr dirty="0">
              <a:solidFill>
                <a:schemeClr val="dk1"/>
              </a:solidFill>
              <a:latin typeface="Times New Roman"/>
              <a:ea typeface="Times New Roman"/>
              <a:cs typeface="Times New Roman"/>
              <a:sym typeface="Times New Roman"/>
            </a:endParaRPr>
          </a:p>
        </p:txBody>
      </p:sp>
      <p:sp>
        <p:nvSpPr>
          <p:cNvPr id="132" name="Google Shape;132;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200">
                <a:latin typeface="Times New Roman"/>
                <a:ea typeface="Times New Roman"/>
                <a:cs typeface="Times New Roman"/>
                <a:sym typeface="Times New Roman"/>
              </a:rPr>
              <a:t>CENTRE FOR ARTIFICIAL INTELLIGENCE, TKMCE</a:t>
            </a:r>
            <a:endParaRPr/>
          </a:p>
        </p:txBody>
      </p:sp>
      <p:sp>
        <p:nvSpPr>
          <p:cNvPr id="133" name="Google Shape;133;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latin typeface="Times New Roman"/>
                <a:ea typeface="Times New Roman"/>
                <a:cs typeface="Times New Roman"/>
                <a:sym typeface="Times New Roman"/>
              </a:rPr>
              <a:t>3</a:t>
            </a:fld>
            <a:endParaRPr sz="12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77AC-A5F6-7820-EB08-852336F9A016}"/>
              </a:ext>
            </a:extLst>
          </p:cNvPr>
          <p:cNvSpPr>
            <a:spLocks noGrp="1"/>
          </p:cNvSpPr>
          <p:nvPr>
            <p:ph type="title"/>
          </p:nvPr>
        </p:nvSpPr>
        <p:spPr>
          <a:xfrm>
            <a:off x="858520" y="0"/>
            <a:ext cx="10058400" cy="702301"/>
          </a:xfrm>
        </p:spPr>
        <p:txBody>
          <a:bodyPr>
            <a:noAutofit/>
          </a:bodyPr>
          <a:lstStyle/>
          <a:p>
            <a:r>
              <a:rPr lang="en-US" b="1" u="sng" dirty="0">
                <a:solidFill>
                  <a:schemeClr val="accent2"/>
                </a:solidFill>
                <a:latin typeface="Times New Roman" panose="02020603050405020304" pitchFamily="18" charset="0"/>
                <a:cs typeface="Times New Roman" panose="02020603050405020304" pitchFamily="18" charset="0"/>
              </a:rPr>
              <a:t>Literature Review</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5BEF71C-9510-1826-E7D8-2B00DA2259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98CDD3-E801-8A5B-B930-C881828616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graphicFrame>
        <p:nvGraphicFramePr>
          <p:cNvPr id="5" name="Table 4">
            <a:extLst>
              <a:ext uri="{FF2B5EF4-FFF2-40B4-BE49-F238E27FC236}">
                <a16:creationId xmlns:a16="http://schemas.microsoft.com/office/drawing/2014/main" id="{3EC51499-1409-7D9E-7321-A7CCFF4B1CE1}"/>
              </a:ext>
            </a:extLst>
          </p:cNvPr>
          <p:cNvGraphicFramePr>
            <a:graphicFrameLocks noGrp="1"/>
          </p:cNvGraphicFramePr>
          <p:nvPr>
            <p:extLst>
              <p:ext uri="{D42A27DB-BD31-4B8C-83A1-F6EECF244321}">
                <p14:modId xmlns:p14="http://schemas.microsoft.com/office/powerpoint/2010/main" val="1996947266"/>
              </p:ext>
            </p:extLst>
          </p:nvPr>
        </p:nvGraphicFramePr>
        <p:xfrm>
          <a:off x="0" y="588416"/>
          <a:ext cx="12222480" cy="6575743"/>
        </p:xfrm>
        <a:graphic>
          <a:graphicData uri="http://schemas.openxmlformats.org/drawingml/2006/table">
            <a:tbl>
              <a:tblPr firstRow="1" bandRow="1">
                <a:tableStyleId>{21E4AEA4-8DFA-4A89-87EB-49C32662AFE0}</a:tableStyleId>
              </a:tblPr>
              <a:tblGrid>
                <a:gridCol w="1782445">
                  <a:extLst>
                    <a:ext uri="{9D8B030D-6E8A-4147-A177-3AD203B41FA5}">
                      <a16:colId xmlns:a16="http://schemas.microsoft.com/office/drawing/2014/main" val="1515973327"/>
                    </a:ext>
                  </a:extLst>
                </a:gridCol>
                <a:gridCol w="2186610">
                  <a:extLst>
                    <a:ext uri="{9D8B030D-6E8A-4147-A177-3AD203B41FA5}">
                      <a16:colId xmlns:a16="http://schemas.microsoft.com/office/drawing/2014/main" val="2609712629"/>
                    </a:ext>
                  </a:extLst>
                </a:gridCol>
                <a:gridCol w="2023183">
                  <a:extLst>
                    <a:ext uri="{9D8B030D-6E8A-4147-A177-3AD203B41FA5}">
                      <a16:colId xmlns:a16="http://schemas.microsoft.com/office/drawing/2014/main" val="3110231094"/>
                    </a:ext>
                  </a:extLst>
                </a:gridCol>
                <a:gridCol w="2139653">
                  <a:extLst>
                    <a:ext uri="{9D8B030D-6E8A-4147-A177-3AD203B41FA5}">
                      <a16:colId xmlns:a16="http://schemas.microsoft.com/office/drawing/2014/main" val="1653508125"/>
                    </a:ext>
                  </a:extLst>
                </a:gridCol>
                <a:gridCol w="2032973">
                  <a:extLst>
                    <a:ext uri="{9D8B030D-6E8A-4147-A177-3AD203B41FA5}">
                      <a16:colId xmlns:a16="http://schemas.microsoft.com/office/drawing/2014/main" val="300691333"/>
                    </a:ext>
                  </a:extLst>
                </a:gridCol>
                <a:gridCol w="2057616">
                  <a:extLst>
                    <a:ext uri="{9D8B030D-6E8A-4147-A177-3AD203B41FA5}">
                      <a16:colId xmlns:a16="http://schemas.microsoft.com/office/drawing/2014/main" val="248912285"/>
                    </a:ext>
                  </a:extLst>
                </a:gridCol>
              </a:tblGrid>
              <a:tr h="723583">
                <a:tc>
                  <a:txBody>
                    <a:bodyPr/>
                    <a:lstStyle/>
                    <a:p>
                      <a:pPr algn="ctr"/>
                      <a:r>
                        <a:rPr lang="en-US" sz="1800" dirty="0">
                          <a:solidFill>
                            <a:schemeClr val="bg1"/>
                          </a:solidFill>
                        </a:rPr>
                        <a:t>Author &amp; </a:t>
                      </a:r>
                    </a:p>
                    <a:p>
                      <a:pPr algn="ctr"/>
                      <a:r>
                        <a:rPr lang="en-US" sz="1800" dirty="0">
                          <a:solidFill>
                            <a:schemeClr val="bg1"/>
                          </a:solidFill>
                        </a:rPr>
                        <a:t>Year</a:t>
                      </a:r>
                      <a:endParaRPr lang="en-IN" sz="18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r>
                        <a:rPr lang="en-US" sz="1800" dirty="0"/>
                        <a:t>Title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Methodology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Dataset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Key</a:t>
                      </a:r>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Findings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Limitations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0439327"/>
                  </a:ext>
                </a:extLst>
              </a:tr>
              <a:tr h="1032367">
                <a:tc>
                  <a:txBody>
                    <a:bodyPr/>
                    <a:lstStyle/>
                    <a:p>
                      <a:pPr algn="ctr"/>
                      <a:r>
                        <a:rPr lang="en-US" sz="1600" dirty="0" err="1">
                          <a:latin typeface="Times New Roman" panose="02020603050405020304" pitchFamily="18" charset="0"/>
                          <a:cs typeface="Times New Roman" panose="02020603050405020304" pitchFamily="18" charset="0"/>
                        </a:rPr>
                        <a:t>C.Luo</a:t>
                      </a:r>
                      <a:r>
                        <a:rPr lang="en-US" sz="1600" dirty="0">
                          <a:latin typeface="Times New Roman" panose="02020603050405020304" pitchFamily="18" charset="0"/>
                          <a:cs typeface="Times New Roman" panose="02020603050405020304" pitchFamily="18" charset="0"/>
                        </a:rPr>
                        <a:t> et.al</a:t>
                      </a:r>
                    </a:p>
                    <a:p>
                      <a:pPr algn="ctr"/>
                      <a:r>
                        <a:rPr lang="en-US" sz="1600" dirty="0">
                          <a:latin typeface="Times New Roman" panose="02020603050405020304" pitchFamily="18" charset="0"/>
                          <a:cs typeface="Times New Roman" panose="02020603050405020304" pitchFamily="18" charset="0"/>
                        </a:rPr>
                        <a:t>2021</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Clustering Based Speech Emotion Recognition by Incorporating Learned Features and Deep </a:t>
                      </a:r>
                      <a:r>
                        <a:rPr lang="en-US" sz="1200" b="1" dirty="0" err="1">
                          <a:solidFill>
                            <a:schemeClr val="tx1"/>
                          </a:solidFill>
                          <a:latin typeface="Times New Roman" panose="02020603050405020304" pitchFamily="18" charset="0"/>
                          <a:cs typeface="Times New Roman" panose="02020603050405020304" pitchFamily="18" charset="0"/>
                        </a:rPr>
                        <a:t>BiLSTM</a:t>
                      </a:r>
                      <a:r>
                        <a:rPr lang="en-US" sz="1200" b="1" dirty="0">
                          <a:solidFill>
                            <a:schemeClr val="tx1"/>
                          </a:solidFill>
                          <a:latin typeface="Times New Roman" panose="02020603050405020304" pitchFamily="18" charset="0"/>
                          <a:cs typeface="Times New Roman" panose="02020603050405020304" pitchFamily="18" charset="0"/>
                        </a:rPr>
                        <a:t> </a:t>
                      </a:r>
                      <a:endParaRPr lang="en-IN" sz="1200" b="1" dirty="0">
                        <a:latin typeface="Times New Roman" panose="02020603050405020304" pitchFamily="18" charset="0"/>
                        <a:cs typeface="Times New Roman" panose="02020603050405020304" pitchFamily="18" charset="0"/>
                      </a:endParaRPr>
                    </a:p>
                  </a:txBody>
                  <a:tcPr/>
                </a:tc>
                <a:tc>
                  <a:txBody>
                    <a:bodyPr/>
                    <a:lstStyle/>
                    <a:p>
                      <a:pPr algn="ctr"/>
                      <a:r>
                        <a:rPr lang="en-IN" sz="1400" b="1" dirty="0">
                          <a:latin typeface="Times New Roman" panose="02020603050405020304" pitchFamily="18" charset="0"/>
                          <a:cs typeface="Times New Roman" panose="02020603050405020304" pitchFamily="18" charset="0"/>
                        </a:rPr>
                        <a:t>ResNet101 CNN  and Deep </a:t>
                      </a:r>
                      <a:r>
                        <a:rPr lang="en-IN" sz="1400" b="1" dirty="0" err="1">
                          <a:latin typeface="Times New Roman" panose="02020603050405020304" pitchFamily="18" charset="0"/>
                          <a:cs typeface="Times New Roman" panose="02020603050405020304" pitchFamily="18" charset="0"/>
                        </a:rPr>
                        <a:t>BiLSTM</a:t>
                      </a:r>
                      <a:endParaRPr lang="en-IN" sz="1400"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sz="1400" dirty="0">
                          <a:latin typeface="Times New Roman" panose="02020603050405020304" pitchFamily="18" charset="0"/>
                          <a:cs typeface="Times New Roman" panose="02020603050405020304" pitchFamily="18" charset="0"/>
                        </a:rPr>
                        <a:t>IEMOCAP</a:t>
                      </a:r>
                    </a:p>
                    <a:p>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Selecting key speech segments using RBF clustering boosts emotion recognition accuracy.</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Selecting only one key segment per cluster may result in the loss of emotional context.</a:t>
                      </a:r>
                    </a:p>
                    <a:p>
                      <a:endParaRPr lang="en-IN" dirty="0"/>
                    </a:p>
                  </a:txBody>
                  <a:tcPr/>
                </a:tc>
                <a:extLst>
                  <a:ext uri="{0D108BD9-81ED-4DB2-BD59-A6C34878D82A}">
                    <a16:rowId xmlns:a16="http://schemas.microsoft.com/office/drawing/2014/main" val="480149752"/>
                  </a:ext>
                </a:extLst>
              </a:tr>
              <a:tr h="993981">
                <a:tc>
                  <a:txBody>
                    <a:bodyPr/>
                    <a:lstStyle/>
                    <a:p>
                      <a:pPr algn="ctr"/>
                      <a:r>
                        <a:rPr lang="en-US" dirty="0">
                          <a:latin typeface="Times New Roman" panose="02020603050405020304" pitchFamily="18" charset="0"/>
                          <a:cs typeface="Times New Roman" panose="02020603050405020304" pitchFamily="18" charset="0"/>
                        </a:rPr>
                        <a:t>J.Y Lee et.al</a:t>
                      </a:r>
                    </a:p>
                    <a:p>
                      <a:pPr algn="ctr"/>
                      <a:r>
                        <a:rPr lang="en-US" dirty="0">
                          <a:latin typeface="Times New Roman" panose="02020603050405020304" pitchFamily="18" charset="0"/>
                          <a:cs typeface="Times New Roman" panose="02020603050405020304" pitchFamily="18" charset="0"/>
                        </a:rPr>
                        <a:t>2021</a:t>
                      </a:r>
                    </a:p>
                    <a:p>
                      <a:endParaRPr lang="en-IN" dirty="0"/>
                    </a:p>
                  </a:txBody>
                  <a:tcPr/>
                </a:tc>
                <a:tc>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Classification of Speech Emotion State Based on Feature Map Fusion of TCN and Pretrained CNN Model From Korean Speech Emotion Data</a:t>
                      </a:r>
                      <a:endParaRPr lang="en-IN" sz="1200" b="1" dirty="0"/>
                    </a:p>
                  </a:txBody>
                  <a:tcPr/>
                </a:tc>
                <a:tc>
                  <a:txBody>
                    <a:bodyPr/>
                    <a:lstStyle/>
                    <a:p>
                      <a:pPr algn="ctr"/>
                      <a:r>
                        <a:rPr lang="en-US" b="1" dirty="0">
                          <a:latin typeface="Times New Roman" panose="02020603050405020304" pitchFamily="18" charset="0"/>
                          <a:cs typeface="Times New Roman" panose="02020603050405020304" pitchFamily="18" charset="0"/>
                        </a:rPr>
                        <a:t>Feature Map Fusion of Pretrained CNN (VGG19) and TCN </a:t>
                      </a:r>
                      <a:endParaRPr lang="en-IN" b="1"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Korean Speech Emotion Dataset (KSED)</a:t>
                      </a:r>
                    </a:p>
                    <a:p>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Feature map fusion improved the efficiency and accuracy of the proposed classification model of speech</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The model is trained on a single language (Korean), which may limit its multilingual or cross-cultural applicability.</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56047114"/>
                  </a:ext>
                </a:extLst>
              </a:tr>
              <a:tr h="621618">
                <a:tc>
                  <a:txBody>
                    <a:bodyPr/>
                    <a:lstStyle/>
                    <a:p>
                      <a:pPr algn="ctr"/>
                      <a:r>
                        <a:rPr lang="en-US" dirty="0" err="1">
                          <a:latin typeface="Times New Roman" panose="02020603050405020304" pitchFamily="18" charset="0"/>
                          <a:cs typeface="Times New Roman" panose="02020603050405020304" pitchFamily="18" charset="0"/>
                        </a:rPr>
                        <a:t>D.Kwon</a:t>
                      </a:r>
                      <a:r>
                        <a:rPr lang="en-US" dirty="0">
                          <a:latin typeface="Times New Roman" panose="02020603050405020304" pitchFamily="18" charset="0"/>
                          <a:cs typeface="Times New Roman" panose="02020603050405020304" pitchFamily="18" charset="0"/>
                        </a:rPr>
                        <a:t> et.al</a:t>
                      </a:r>
                    </a:p>
                    <a:p>
                      <a:pPr algn="ctr"/>
                      <a:r>
                        <a:rPr lang="en-US" dirty="0">
                          <a:latin typeface="Times New Roman" panose="02020603050405020304" pitchFamily="18" charset="0"/>
                          <a:cs typeface="Times New Roman" panose="02020603050405020304" pitchFamily="18" charset="0"/>
                        </a:rPr>
                        <a:t>2022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3D Convolutional Neural Network for Speech Emotion Recognition With Its Realization on Intel CPU and NVIDIA GPU</a:t>
                      </a:r>
                      <a:endParaRPr lang="en-IN" sz="1200" b="1" dirty="0">
                        <a:latin typeface="Times New Roman" panose="02020603050405020304" pitchFamily="18" charset="0"/>
                        <a:cs typeface="Times New Roman" panose="02020603050405020304" pitchFamily="18" charset="0"/>
                      </a:endParaRPr>
                    </a:p>
                  </a:txBody>
                  <a:tcPr/>
                </a:tc>
                <a:tc>
                  <a:txBody>
                    <a:bodyPr/>
                    <a:lstStyle/>
                    <a:p>
                      <a:pPr algn="ctr"/>
                      <a:r>
                        <a:rPr lang="en-US" b="1" dirty="0">
                          <a:latin typeface="Times New Roman" panose="02020603050405020304" pitchFamily="18" charset="0"/>
                          <a:cs typeface="Times New Roman" panose="02020603050405020304" pitchFamily="18" charset="0"/>
                        </a:rPr>
                        <a:t>3D CNN</a:t>
                      </a:r>
                      <a:endParaRPr lang="en-IN"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dirty="0">
                          <a:solidFill>
                            <a:schemeClr val="tx1"/>
                          </a:solidFill>
                          <a:latin typeface="Times New Roman" panose="02020603050405020304" pitchFamily="18" charset="0"/>
                          <a:cs typeface="Times New Roman" panose="02020603050405020304" pitchFamily="18" charset="0"/>
                        </a:rPr>
                        <a:t>EMO-DB and eNTERFACE05</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GPU implementation showed 1.3× faster performance than CPU</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Computational complexity is high due to 3D tensor creation and deep CNN architecture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0318857"/>
                  </a:ext>
                </a:extLst>
              </a:tr>
              <a:tr h="0">
                <a:tc>
                  <a:txBody>
                    <a:bodyPr/>
                    <a:lstStyle/>
                    <a:p>
                      <a:pPr algn="ctr"/>
                      <a:r>
                        <a:rPr lang="en-US" dirty="0" err="1">
                          <a:latin typeface="Times New Roman" panose="02020603050405020304" pitchFamily="18" charset="0"/>
                          <a:cs typeface="Times New Roman" panose="02020603050405020304" pitchFamily="18" charset="0"/>
                        </a:rPr>
                        <a:t>A.Ghosh</a:t>
                      </a:r>
                      <a:r>
                        <a:rPr lang="en-US" dirty="0">
                          <a:latin typeface="Times New Roman" panose="02020603050405020304" pitchFamily="18" charset="0"/>
                          <a:cs typeface="Times New Roman" panose="02020603050405020304" pitchFamily="18" charset="0"/>
                        </a:rPr>
                        <a:t> et.al</a:t>
                      </a:r>
                    </a:p>
                    <a:p>
                      <a:pPr algn="ctr"/>
                      <a:r>
                        <a:rPr lang="en-US" dirty="0">
                          <a:latin typeface="Times New Roman" panose="02020603050405020304" pitchFamily="18" charset="0"/>
                          <a:cs typeface="Times New Roman" panose="02020603050405020304" pitchFamily="18" charset="0"/>
                        </a:rPr>
                        <a:t>2021</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Autoencoder With Emotion Embedding for Speech Emotion Recognition</a:t>
                      </a: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chemeClr val="tx1"/>
                          </a:solidFill>
                          <a:latin typeface="Times New Roman" panose="02020603050405020304" pitchFamily="18" charset="0"/>
                          <a:cs typeface="Times New Roman" panose="02020603050405020304" pitchFamily="18" charset="0"/>
                        </a:rPr>
                        <a:t>Modified Autoencoder with Emotion Embedding and Instance Normalization</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IEMOCAP and EMODB</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Integrating emotion embeddings into an autoencoder significantly improves the accuracy</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The system may depend on high-quality labeled data, and performance may vary across different annotation schemes.</a:t>
                      </a:r>
                    </a:p>
                    <a:p>
                      <a:pPr algn="ct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4756616"/>
                  </a:ext>
                </a:extLst>
              </a:tr>
              <a:tr h="505715">
                <a:tc>
                  <a:txBody>
                    <a:bodyPr/>
                    <a:lstStyle/>
                    <a:p>
                      <a:pPr algn="ctr"/>
                      <a:r>
                        <a:rPr lang="en-US" dirty="0" err="1">
                          <a:latin typeface="Times New Roman" panose="02020603050405020304" pitchFamily="18" charset="0"/>
                          <a:cs typeface="Times New Roman" panose="02020603050405020304" pitchFamily="18" charset="0"/>
                        </a:rPr>
                        <a:t>M.Rehman</a:t>
                      </a:r>
                      <a:r>
                        <a:rPr lang="en-US" dirty="0">
                          <a:latin typeface="Times New Roman" panose="02020603050405020304" pitchFamily="18" charset="0"/>
                          <a:cs typeface="Times New Roman" panose="02020603050405020304" pitchFamily="18" charset="0"/>
                        </a:rPr>
                        <a:t> et.al</a:t>
                      </a:r>
                    </a:p>
                    <a:p>
                      <a:pPr algn="ctr"/>
                      <a:r>
                        <a:rPr lang="en-US" dirty="0">
                          <a:latin typeface="Times New Roman" panose="02020603050405020304" pitchFamily="18" charset="0"/>
                          <a:cs typeface="Times New Roman" panose="02020603050405020304" pitchFamily="18" charset="0"/>
                        </a:rPr>
                        <a:t>2023</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sz="1200" b="1" dirty="0">
                          <a:latin typeface="Times New Roman" panose="02020603050405020304" pitchFamily="18" charset="0"/>
                          <a:cs typeface="Times New Roman" panose="02020603050405020304" pitchFamily="18" charset="0"/>
                        </a:rPr>
                        <a:t>Hybrid LSTM-Transformer Model for Emotion  Recognition From Speech</a:t>
                      </a:r>
                      <a:endParaRPr lang="en-IN" sz="1200" b="1" dirty="0">
                        <a:latin typeface="Times New Roman" panose="02020603050405020304" pitchFamily="18" charset="0"/>
                        <a:cs typeface="Times New Roman" panose="02020603050405020304" pitchFamily="18" charset="0"/>
                      </a:endParaRPr>
                    </a:p>
                  </a:txBody>
                  <a:tcPr/>
                </a:tc>
                <a:tc>
                  <a:txBody>
                    <a:bodyPr/>
                    <a:lstStyle/>
                    <a:p>
                      <a:pPr algn="ctr"/>
                      <a:r>
                        <a:rPr lang="en-US" b="1" dirty="0">
                          <a:latin typeface="Times New Roman" panose="02020603050405020304" pitchFamily="18" charset="0"/>
                          <a:cs typeface="Times New Roman" panose="02020603050405020304" pitchFamily="18" charset="0"/>
                        </a:rPr>
                        <a:t>Hybrid LSTM-Transformer</a:t>
                      </a:r>
                      <a:endParaRPr lang="en-IN"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dirty="0">
                          <a:solidFill>
                            <a:schemeClr val="tx1"/>
                          </a:solidFill>
                          <a:latin typeface="Times New Roman" panose="02020603050405020304" pitchFamily="18" charset="0"/>
                          <a:cs typeface="Times New Roman" panose="02020603050405020304" pitchFamily="18" charset="0"/>
                        </a:rPr>
                        <a:t>RAVEDESS and EMODB</a:t>
                      </a:r>
                    </a:p>
                    <a:p>
                      <a:pPr algn="ctr"/>
                      <a:endParaRPr lang="en-IN" dirty="0"/>
                    </a:p>
                  </a:txBody>
                  <a:tcPr/>
                </a:tc>
                <a:tc>
                  <a:txBody>
                    <a:bodyPr/>
                    <a:lstStyle/>
                    <a:p>
                      <a:pPr algn="ctr"/>
                      <a:r>
                        <a:rPr lang="en-US" dirty="0">
                          <a:latin typeface="Times New Roman" panose="02020603050405020304" pitchFamily="18" charset="0"/>
                          <a:cs typeface="Times New Roman" panose="02020603050405020304" pitchFamily="18" charset="0"/>
                        </a:rPr>
                        <a:t>The proposed  model achieves high speech emotion recognition accuracy.</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Computational complexity increases due to combining LSTM and Transformer</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71981"/>
                  </a:ext>
                </a:extLst>
              </a:tr>
            </a:tbl>
          </a:graphicData>
        </a:graphic>
      </p:graphicFrame>
    </p:spTree>
    <p:extLst>
      <p:ext uri="{BB962C8B-B14F-4D97-AF65-F5344CB8AC3E}">
        <p14:creationId xmlns:p14="http://schemas.microsoft.com/office/powerpoint/2010/main" val="2907420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9E3E2E-9333-F79B-0C6D-6B60A65719B8}"/>
              </a:ext>
            </a:extLst>
          </p:cNvPr>
          <p:cNvSpPr>
            <a:spLocks noGrp="1"/>
          </p:cNvSpPr>
          <p:nvPr>
            <p:ph type="title"/>
          </p:nvPr>
        </p:nvSpPr>
        <p:spPr>
          <a:xfrm>
            <a:off x="1096433" y="285752"/>
            <a:ext cx="10058400" cy="1452033"/>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5256E789-4769-034F-1C4E-6F9D7AC3CF3E}"/>
              </a:ext>
            </a:extLst>
          </p:cNvPr>
          <p:cNvSpPr txBox="1">
            <a:spLocks noGrp="1"/>
          </p:cNvSpPr>
          <p:nvPr>
            <p:ph type="body" idx="1"/>
          </p:nvPr>
        </p:nvSpPr>
        <p:spPr>
          <a:xfrm>
            <a:off x="243841" y="1737785"/>
            <a:ext cx="11948160" cy="523180"/>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1. Clustering Based Speech Emotion Recognition by Incorporating Learned Features and Deep </a:t>
            </a:r>
            <a:r>
              <a:rPr lang="en-US" b="1" dirty="0" err="1">
                <a:solidFill>
                  <a:schemeClr val="tx1"/>
                </a:solidFill>
                <a:latin typeface="Times New Roman" panose="02020603050405020304" pitchFamily="18" charset="0"/>
                <a:cs typeface="Times New Roman" panose="02020603050405020304" pitchFamily="18" charset="0"/>
              </a:rPr>
              <a:t>BiLSTM</a:t>
            </a:r>
            <a:r>
              <a:rPr lang="en-US" b="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ea typeface="+mn-lt"/>
                <a:cs typeface="Times New Roman" panose="02020603050405020304" pitchFamily="18" charset="0"/>
              </a:rPr>
              <a:t>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4D92995F-EFF7-CA80-0F01-C8E4388091A6}"/>
              </a:ext>
            </a:extLst>
          </p:cNvPr>
          <p:cNvSpPr txBox="1">
            <a:spLocks/>
          </p:cNvSpPr>
          <p:nvPr/>
        </p:nvSpPr>
        <p:spPr>
          <a:xfrm>
            <a:off x="873329" y="2502797"/>
            <a:ext cx="10445341" cy="4069451"/>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         Journal: IEEE Access</a:t>
            </a:r>
          </a:p>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          Year: </a:t>
            </a:r>
            <a:r>
              <a:rPr lang="en-US" sz="2000" b="1" dirty="0">
                <a:solidFill>
                  <a:schemeClr val="tx1"/>
                </a:solidFill>
                <a:latin typeface="Times New Roman" panose="02020603050405020304" pitchFamily="18" charset="0"/>
                <a:cs typeface="Times New Roman" panose="02020603050405020304" pitchFamily="18" charset="0"/>
              </a:rPr>
              <a:t>2021</a:t>
            </a:r>
          </a:p>
          <a:p>
            <a:pPr marL="186262" indent="0" algn="just">
              <a:buNone/>
            </a:pPr>
            <a:r>
              <a:rPr lang="en-US" sz="2000" dirty="0">
                <a:solidFill>
                  <a:schemeClr val="tx1"/>
                </a:solidFill>
                <a:latin typeface="Times New Roman" panose="02020603050405020304" pitchFamily="18" charset="0"/>
                <a:cs typeface="Times New Roman" panose="02020603050405020304" pitchFamily="18" charset="0"/>
              </a:rPr>
              <a:t>       Technique:</a:t>
            </a:r>
            <a:r>
              <a:rPr lang="en-US" sz="2000" b="1" dirty="0">
                <a:solidFill>
                  <a:schemeClr val="tx1"/>
                </a:solidFill>
                <a:latin typeface="Times New Roman" panose="02020603050405020304" pitchFamily="18" charset="0"/>
                <a:cs typeface="Times New Roman" panose="02020603050405020304" pitchFamily="18" charset="0"/>
              </a:rPr>
              <a:t> ResNet101 CNN and Deep </a:t>
            </a:r>
            <a:r>
              <a:rPr lang="en-US" sz="2000" b="1" dirty="0" err="1">
                <a:solidFill>
                  <a:schemeClr val="tx1"/>
                </a:solidFill>
                <a:latin typeface="Times New Roman" panose="02020603050405020304" pitchFamily="18" charset="0"/>
                <a:cs typeface="Times New Roman" panose="02020603050405020304" pitchFamily="18" charset="0"/>
              </a:rPr>
              <a:t>BiLSTM</a:t>
            </a:r>
            <a:endParaRPr lang="en-US" sz="2000" b="1" dirty="0">
              <a:solidFill>
                <a:schemeClr val="tx1"/>
              </a:solidFill>
              <a:latin typeface="Times New Roman" panose="02020603050405020304" pitchFamily="18" charset="0"/>
              <a:cs typeface="Times New Roman" panose="02020603050405020304" pitchFamily="18" charset="0"/>
            </a:endParaRPr>
          </a:p>
          <a:p>
            <a:pPr marL="186262"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Dataset: </a:t>
            </a:r>
            <a:r>
              <a:rPr lang="en-IN" sz="1800" b="1" dirty="0">
                <a:solidFill>
                  <a:schemeClr val="tx1"/>
                </a:solidFill>
                <a:latin typeface="Times New Roman" panose="02020603050405020304" pitchFamily="18" charset="0"/>
                <a:cs typeface="Times New Roman" panose="02020603050405020304" pitchFamily="18" charset="0"/>
              </a:rPr>
              <a:t>IEMOCAP</a:t>
            </a:r>
            <a:endParaRPr lang="en-US" sz="1800" b="1"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 The dataset consists </a:t>
            </a:r>
            <a:r>
              <a:rPr lang="en-US" sz="2000" dirty="0">
                <a:latin typeface="Times New Roman" panose="02020603050405020304" pitchFamily="18" charset="0"/>
                <a:cs typeface="Times New Roman" panose="02020603050405020304" pitchFamily="18" charset="0"/>
              </a:rPr>
              <a:t>12 hours of audio-visual data, recorded from 10 actors in both scripted and improvised scenarios.</a:t>
            </a:r>
          </a:p>
          <a:p>
            <a:pPr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Emotions considered: Happy, Sad, Angry, Neutral</a:t>
            </a:r>
            <a:endParaRPr lang="en-US" sz="18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000" dirty="0">
                <a:solidFill>
                  <a:schemeClr val="tx1"/>
                </a:solidFill>
                <a:latin typeface="Times New Roman" panose="02020603050405020304" pitchFamily="18" charset="0"/>
                <a:cs typeface="Times New Roman" panose="02020603050405020304" pitchFamily="18" charset="0"/>
              </a:rPr>
              <a:t>The speech audio is divided into fixed segments of 500 milliseconds to extract short-duration emotional cues.</a:t>
            </a:r>
          </a:p>
          <a:p>
            <a:pPr algn="just">
              <a:buFont typeface="Wingdings" panose="020F0502020204030204" pitchFamily="34" charset="0"/>
              <a:buChar char="Ø"/>
            </a:pPr>
            <a:endParaRPr lang="en-US" sz="2000" dirty="0">
              <a:ea typeface="+mn-lt"/>
              <a:cs typeface="+mn-lt"/>
            </a:endParaRPr>
          </a:p>
        </p:txBody>
      </p:sp>
      <p:sp>
        <p:nvSpPr>
          <p:cNvPr id="8" name="Google Shape;171;p27">
            <a:extLst>
              <a:ext uri="{FF2B5EF4-FFF2-40B4-BE49-F238E27FC236}">
                <a16:creationId xmlns:a16="http://schemas.microsoft.com/office/drawing/2014/main" id="{94F1885B-F90B-DBCC-7EC7-2262AD7E382D}"/>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96122C72-2544-015B-D662-FC5E7C33F687}"/>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5</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526392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1CADC-AE22-FF10-8BF0-8909FB3F2C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E0A4EA7-FF88-B769-A27D-ECDBD809089E}"/>
              </a:ext>
            </a:extLst>
          </p:cNvPr>
          <p:cNvSpPr>
            <a:spLocks noGrp="1"/>
          </p:cNvSpPr>
          <p:nvPr>
            <p:ph type="title"/>
          </p:nvPr>
        </p:nvSpPr>
        <p:spPr>
          <a:xfrm>
            <a:off x="680720" y="763273"/>
            <a:ext cx="10058400" cy="1096008"/>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791DA7E-322D-09CF-75A1-5C9DC45D44BD}"/>
              </a:ext>
            </a:extLst>
          </p:cNvPr>
          <p:cNvSpPr txBox="1">
            <a:spLocks noGrp="1"/>
          </p:cNvSpPr>
          <p:nvPr>
            <p:ph type="body" idx="1"/>
          </p:nvPr>
        </p:nvSpPr>
        <p:spPr>
          <a:xfrm>
            <a:off x="1" y="1737785"/>
            <a:ext cx="12192000" cy="523180"/>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1. Clustering Based Speech Emotion Recognition by Incorporating Learned Features and Deep </a:t>
            </a:r>
            <a:r>
              <a:rPr lang="en-US" b="1" dirty="0" err="1">
                <a:solidFill>
                  <a:schemeClr val="tx1"/>
                </a:solidFill>
                <a:latin typeface="Times New Roman" panose="02020603050405020304" pitchFamily="18" charset="0"/>
                <a:cs typeface="Times New Roman" panose="02020603050405020304" pitchFamily="18" charset="0"/>
              </a:rPr>
              <a:t>BiLSTM</a:t>
            </a:r>
            <a:r>
              <a:rPr lang="en-US" b="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ea typeface="+mn-lt"/>
                <a:cs typeface="Times New Roman" panose="02020603050405020304" pitchFamily="18" charset="0"/>
              </a:rPr>
              <a:t>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86D97D22-CCAE-EA36-4102-CCD4B306CE00}"/>
              </a:ext>
            </a:extLst>
          </p:cNvPr>
          <p:cNvSpPr txBox="1">
            <a:spLocks/>
          </p:cNvSpPr>
          <p:nvPr/>
        </p:nvSpPr>
        <p:spPr>
          <a:xfrm>
            <a:off x="680720" y="2622049"/>
            <a:ext cx="11399520" cy="3199631"/>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342900" indent="-342900"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RBF-based K-Means clustering is applied to group similar segments, and one key segment is selected per cluster.</a:t>
            </a:r>
          </a:p>
          <a:p>
            <a:pPr marL="342900" indent="-342900"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The number of clusters is determined dynamically using a shot boundary detection method.</a:t>
            </a:r>
          </a:p>
          <a:p>
            <a:pPr marL="342900" indent="-342900"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Selected key segments are converted into spectrograms using the Short-Time Fourier Transform (STFT).</a:t>
            </a:r>
          </a:p>
          <a:p>
            <a:pPr marL="342900" indent="-342900"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Spectrograms are passed through a pre-trained ResNet101 CNN to extract high-level discriminative features.</a:t>
            </a:r>
          </a:p>
          <a:p>
            <a:pPr marL="342900" indent="-342900" algn="just">
              <a:buFont typeface="Wingdings" panose="05000000000000000000" pitchFamily="2" charset="2"/>
              <a:buChar char="v"/>
            </a:pPr>
            <a:r>
              <a:rPr lang="en-US" sz="1900" dirty="0">
                <a:latin typeface="Times New Roman" panose="02020603050405020304" pitchFamily="18" charset="0"/>
                <a:ea typeface="+mn-lt"/>
                <a:cs typeface="Times New Roman" panose="02020603050405020304" pitchFamily="18" charset="0"/>
              </a:rPr>
              <a:t>Each normalized feature vector is treated as a time step in a sequence and passed to a deep Bidirectional LSTM (</a:t>
            </a:r>
            <a:r>
              <a:rPr lang="en-US" sz="1900" dirty="0" err="1">
                <a:latin typeface="Times New Roman" panose="02020603050405020304" pitchFamily="18" charset="0"/>
                <a:ea typeface="+mn-lt"/>
                <a:cs typeface="Times New Roman" panose="02020603050405020304" pitchFamily="18" charset="0"/>
              </a:rPr>
              <a:t>BiLSTM</a:t>
            </a:r>
            <a:r>
              <a:rPr lang="en-US" sz="1900" dirty="0">
                <a:latin typeface="Times New Roman" panose="02020603050405020304" pitchFamily="18" charset="0"/>
                <a:ea typeface="+mn-lt"/>
                <a:cs typeface="Times New Roman" panose="02020603050405020304" pitchFamily="18" charset="0"/>
              </a:rPr>
              <a:t>) network to capture temporal dependencies in both directions.</a:t>
            </a:r>
          </a:p>
          <a:p>
            <a:pPr marL="342900" indent="-342900" algn="just">
              <a:buFont typeface="Wingdings" panose="05000000000000000000" pitchFamily="2" charset="2"/>
              <a:buChar char="v"/>
            </a:pPr>
            <a:r>
              <a:rPr lang="en-US" sz="1900" dirty="0">
                <a:latin typeface="Times New Roman" panose="02020603050405020304" pitchFamily="18" charset="0"/>
                <a:ea typeface="+mn-lt"/>
                <a:cs typeface="Times New Roman" panose="02020603050405020304" pitchFamily="18" charset="0"/>
              </a:rPr>
              <a:t>The </a:t>
            </a:r>
            <a:r>
              <a:rPr lang="en-US" sz="1900" dirty="0" err="1">
                <a:latin typeface="Times New Roman" panose="02020603050405020304" pitchFamily="18" charset="0"/>
                <a:ea typeface="+mn-lt"/>
                <a:cs typeface="Times New Roman" panose="02020603050405020304" pitchFamily="18" charset="0"/>
              </a:rPr>
              <a:t>BiLSTM</a:t>
            </a:r>
            <a:r>
              <a:rPr lang="en-US" sz="1900" dirty="0">
                <a:latin typeface="Times New Roman" panose="02020603050405020304" pitchFamily="18" charset="0"/>
                <a:ea typeface="+mn-lt"/>
                <a:cs typeface="Times New Roman" panose="02020603050405020304" pitchFamily="18" charset="0"/>
              </a:rPr>
              <a:t> processes the full sequence of key segments, allowing the model to understand how emotions evolve throughout the process.</a:t>
            </a:r>
            <a:endParaRPr lang="en-US" sz="2000" dirty="0">
              <a:latin typeface="Times New Roman" panose="02020603050405020304" pitchFamily="18" charset="0"/>
              <a:ea typeface="+mn-lt"/>
              <a:cs typeface="Times New Roman" panose="02020603050405020304" pitchFamily="18" charset="0"/>
            </a:endParaRPr>
          </a:p>
        </p:txBody>
      </p:sp>
      <p:sp>
        <p:nvSpPr>
          <p:cNvPr id="8" name="Google Shape;171;p27">
            <a:extLst>
              <a:ext uri="{FF2B5EF4-FFF2-40B4-BE49-F238E27FC236}">
                <a16:creationId xmlns:a16="http://schemas.microsoft.com/office/drawing/2014/main" id="{33CB22AF-F338-DA80-3595-B2C022EC7A06}"/>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F68FE8CC-DDDD-96B5-27AD-7677C35EA927}"/>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6</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430721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B9CC-A907-C77E-2252-3EBC3AF8CC78}"/>
              </a:ext>
            </a:extLst>
          </p:cNvPr>
          <p:cNvSpPr>
            <a:spLocks noGrp="1"/>
          </p:cNvSpPr>
          <p:nvPr>
            <p:ph type="title"/>
          </p:nvPr>
        </p:nvSpPr>
        <p:spPr>
          <a:xfrm>
            <a:off x="1066800" y="789240"/>
            <a:ext cx="10058400" cy="968440"/>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5700D80-30E0-982A-04DB-B6443DBAAA99}"/>
              </a:ext>
            </a:extLst>
          </p:cNvPr>
          <p:cNvSpPr>
            <a:spLocks noGrp="1"/>
          </p:cNvSpPr>
          <p:nvPr>
            <p:ph type="body" idx="1"/>
          </p:nvPr>
        </p:nvSpPr>
        <p:spPr>
          <a:xfrm>
            <a:off x="1097280" y="1757680"/>
            <a:ext cx="10058400" cy="4450080"/>
          </a:xfrm>
        </p:spPr>
        <p:txBody>
          <a:bodyPr>
            <a:normAutofit lnSpcReduction="10000"/>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final hidden state of the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is passed through a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activation layer, which outputs the probability distribution over predefined emotion categories such as happy, sad, angry, and neutral.</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Evaluation metrics such as accuracy and confusion matrices are used to assess the performance of the proposed method against baseline approaches.</a:t>
            </a:r>
          </a:p>
          <a:p>
            <a:pPr marL="114300" indent="0" algn="just">
              <a:buNone/>
            </a:pPr>
            <a:r>
              <a:rPr lang="en-US" b="1" u="sng" dirty="0">
                <a:latin typeface="Times New Roman" panose="02020603050405020304" pitchFamily="18" charset="0"/>
                <a:cs typeface="Times New Roman" panose="02020603050405020304" pitchFamily="18" charset="0"/>
              </a:rPr>
              <a:t>Limitations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model is trained and tested only on the IEMOCAP dataset, raising concerns about its ability to generalize to real-world or multilingual scenarios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Emotions like "happy" and "neutral" often share similar acoustic features, making them harder to distinguish and leading to misclassification.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Selecting only one key segment per cluster may result in the loss of emotional context.</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High computational requirements due to ResNet101 and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make real-time deployment challenging.</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FCBFD0-56ED-16C0-2B25-1A11787A8B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4239500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4747-9B58-DB2C-1F10-548A4C359D6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F48DE6A-7194-9E93-5D64-DE31033D9543}"/>
              </a:ext>
            </a:extLst>
          </p:cNvPr>
          <p:cNvSpPr>
            <a:spLocks noGrp="1"/>
          </p:cNvSpPr>
          <p:nvPr>
            <p:ph type="title"/>
          </p:nvPr>
        </p:nvSpPr>
        <p:spPr>
          <a:xfrm>
            <a:off x="1096433" y="285752"/>
            <a:ext cx="10058400" cy="1452033"/>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19B38554-C244-73AC-0538-64B9DA98BFF2}"/>
              </a:ext>
            </a:extLst>
          </p:cNvPr>
          <p:cNvSpPr txBox="1">
            <a:spLocks noGrp="1"/>
          </p:cNvSpPr>
          <p:nvPr>
            <p:ph type="body" idx="1"/>
          </p:nvPr>
        </p:nvSpPr>
        <p:spPr>
          <a:xfrm>
            <a:off x="557049" y="1737785"/>
            <a:ext cx="11634951" cy="800179"/>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2. Classification of Speech Emotion State Based on Feature Map Fusion of TCN and Pretrained CNN Model From Korean Speech Emotion Data[2</a:t>
            </a:r>
            <a:r>
              <a:rPr lang="en-US" b="1" dirty="0">
                <a:solidFill>
                  <a:schemeClr val="tx1"/>
                </a:solidFill>
                <a:latin typeface="Times New Roman" panose="02020603050405020304" pitchFamily="18" charset="0"/>
                <a:ea typeface="+mn-lt"/>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FE0C549D-A4E6-AD13-C638-7EA7282081F6}"/>
              </a:ext>
            </a:extLst>
          </p:cNvPr>
          <p:cNvSpPr txBox="1">
            <a:spLocks/>
          </p:cNvSpPr>
          <p:nvPr/>
        </p:nvSpPr>
        <p:spPr>
          <a:xfrm>
            <a:off x="709492" y="2529879"/>
            <a:ext cx="10445341" cy="3580315"/>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0" indent="0" algn="just">
              <a:buNone/>
            </a:pPr>
            <a:r>
              <a:rPr lang="en-US" sz="1900" b="1" dirty="0">
                <a:solidFill>
                  <a:schemeClr val="tx1"/>
                </a:solidFill>
                <a:latin typeface="Times New Roman" panose="02020603050405020304" pitchFamily="18" charset="0"/>
                <a:cs typeface="Times New Roman" panose="02020603050405020304" pitchFamily="18" charset="0"/>
              </a:rPr>
              <a:t> </a:t>
            </a:r>
            <a:r>
              <a:rPr lang="en-US" sz="1900" dirty="0">
                <a:solidFill>
                  <a:schemeClr val="tx1"/>
                </a:solidFill>
                <a:latin typeface="Times New Roman" panose="02020603050405020304" pitchFamily="18" charset="0"/>
                <a:cs typeface="Times New Roman" panose="02020603050405020304" pitchFamily="18" charset="0"/>
              </a:rPr>
              <a:t>         Journal: IEEE Access</a:t>
            </a:r>
          </a:p>
          <a:p>
            <a:pPr marL="0" indent="0" algn="just">
              <a:buNone/>
            </a:pPr>
            <a:r>
              <a:rPr lang="en-US" sz="1900" dirty="0">
                <a:solidFill>
                  <a:schemeClr val="tx1"/>
                </a:solidFill>
                <a:latin typeface="Times New Roman" panose="02020603050405020304" pitchFamily="18" charset="0"/>
                <a:cs typeface="Times New Roman" panose="02020603050405020304" pitchFamily="18" charset="0"/>
              </a:rPr>
              <a:t>          Year: </a:t>
            </a:r>
            <a:r>
              <a:rPr lang="en-US" sz="1900" b="1" dirty="0">
                <a:solidFill>
                  <a:schemeClr val="tx1"/>
                </a:solidFill>
                <a:latin typeface="Times New Roman" panose="02020603050405020304" pitchFamily="18" charset="0"/>
                <a:cs typeface="Times New Roman" panose="02020603050405020304" pitchFamily="18" charset="0"/>
              </a:rPr>
              <a:t>2021</a:t>
            </a:r>
          </a:p>
          <a:p>
            <a:pPr marL="186262" indent="0" algn="just">
              <a:buNone/>
            </a:pPr>
            <a:r>
              <a:rPr lang="en-US" sz="1900" dirty="0">
                <a:solidFill>
                  <a:schemeClr val="tx1"/>
                </a:solidFill>
                <a:latin typeface="Times New Roman" panose="02020603050405020304" pitchFamily="18" charset="0"/>
                <a:cs typeface="Times New Roman" panose="02020603050405020304" pitchFamily="18" charset="0"/>
              </a:rPr>
              <a:t>       Technique:</a:t>
            </a:r>
            <a:r>
              <a:rPr lang="en-US" sz="1900" b="1" dirty="0">
                <a:solidFill>
                  <a:schemeClr val="tx1"/>
                </a:solidFill>
                <a:latin typeface="Times New Roman" panose="02020603050405020304" pitchFamily="18" charset="0"/>
                <a:cs typeface="Times New Roman" panose="02020603050405020304" pitchFamily="18" charset="0"/>
              </a:rPr>
              <a:t> Feature Map Fusion of Pretrained CNN (VGG19) and TCN </a:t>
            </a:r>
          </a:p>
          <a:p>
            <a:pPr marL="186262" indent="0" algn="just">
              <a:buNone/>
            </a:pPr>
            <a:r>
              <a:rPr lang="en-US" sz="1900" b="1" dirty="0">
                <a:solidFill>
                  <a:schemeClr val="tx1"/>
                </a:solidFill>
                <a:latin typeface="Times New Roman" panose="02020603050405020304" pitchFamily="18" charset="0"/>
                <a:cs typeface="Times New Roman" panose="02020603050405020304" pitchFamily="18" charset="0"/>
              </a:rPr>
              <a:t>       </a:t>
            </a:r>
            <a:r>
              <a:rPr lang="en-US" sz="1900" dirty="0">
                <a:solidFill>
                  <a:schemeClr val="tx1"/>
                </a:solidFill>
                <a:latin typeface="Times New Roman" panose="02020603050405020304" pitchFamily="18" charset="0"/>
                <a:cs typeface="Times New Roman" panose="02020603050405020304" pitchFamily="18" charset="0"/>
              </a:rPr>
              <a:t>Dataset: </a:t>
            </a:r>
            <a:r>
              <a:rPr lang="en-US" sz="1900" b="1" dirty="0">
                <a:solidFill>
                  <a:schemeClr val="tx1"/>
                </a:solidFill>
                <a:latin typeface="Times New Roman" panose="02020603050405020304" pitchFamily="18" charset="0"/>
                <a:cs typeface="Times New Roman" panose="02020603050405020304" pitchFamily="18" charset="0"/>
              </a:rPr>
              <a:t>Korean Speech Emotion Dataset (KSED)</a:t>
            </a:r>
          </a:p>
          <a:p>
            <a:pPr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The study uses the Korean Speech Emotion Dataset (KSED), which includes audio samples expressing various emotions such as happiness, sadness, anger, and neutrality.</a:t>
            </a:r>
          </a:p>
          <a:p>
            <a:pPr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The audio data is preprocessed to extract spectrograms and MFCC features, which serve as inputs to the deep learning models.</a:t>
            </a:r>
          </a:p>
          <a:p>
            <a:pPr algn="just"/>
            <a:endParaRPr lang="en-US" sz="2000" b="1" dirty="0">
              <a:solidFill>
                <a:schemeClr val="tx1"/>
              </a:solidFill>
              <a:latin typeface="Times New Roman" panose="02020603050405020304" pitchFamily="18" charset="0"/>
              <a:cs typeface="Times New Roman" panose="02020603050405020304" pitchFamily="18" charset="0"/>
            </a:endParaRPr>
          </a:p>
          <a:p>
            <a:pPr algn="just">
              <a:buFont typeface="Wingdings" panose="020F0502020204030204" pitchFamily="34" charset="0"/>
              <a:buChar char="Ø"/>
            </a:pPr>
            <a:endParaRPr lang="en-US" sz="2000" dirty="0">
              <a:ea typeface="+mn-lt"/>
              <a:cs typeface="+mn-lt"/>
            </a:endParaRPr>
          </a:p>
        </p:txBody>
      </p:sp>
      <p:sp>
        <p:nvSpPr>
          <p:cNvPr id="8" name="Google Shape;171;p27">
            <a:extLst>
              <a:ext uri="{FF2B5EF4-FFF2-40B4-BE49-F238E27FC236}">
                <a16:creationId xmlns:a16="http://schemas.microsoft.com/office/drawing/2014/main" id="{24B129E6-23B1-4FE4-19A9-44881C6D496D}"/>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8F07E7B9-FA90-D915-DA16-0F5B6417B604}"/>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8</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023070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CA5F-8375-CE7B-F510-5275F2BEBF3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CE791CD-4494-57E4-AB90-6B03DED802C9}"/>
              </a:ext>
            </a:extLst>
          </p:cNvPr>
          <p:cNvSpPr>
            <a:spLocks noGrp="1"/>
          </p:cNvSpPr>
          <p:nvPr>
            <p:ph type="title"/>
          </p:nvPr>
        </p:nvSpPr>
        <p:spPr>
          <a:xfrm>
            <a:off x="1066800" y="742953"/>
            <a:ext cx="10058400" cy="1096008"/>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D68F0ABB-5636-96DF-74EF-24292B2FFDE6}"/>
              </a:ext>
            </a:extLst>
          </p:cNvPr>
          <p:cNvSpPr txBox="1">
            <a:spLocks noGrp="1"/>
          </p:cNvSpPr>
          <p:nvPr>
            <p:ph type="body" idx="1"/>
          </p:nvPr>
        </p:nvSpPr>
        <p:spPr>
          <a:xfrm>
            <a:off x="557049" y="1737785"/>
            <a:ext cx="11634951" cy="800179"/>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2. Classification of Speech Emotion State Based on Feature Map Fusion of TCN and Pretrained CNN Model From Korean Speech Emotion Data[2]</a:t>
            </a:r>
          </a:p>
        </p:txBody>
      </p:sp>
      <p:sp>
        <p:nvSpPr>
          <p:cNvPr id="6" name="Content Placeholder 2">
            <a:extLst>
              <a:ext uri="{FF2B5EF4-FFF2-40B4-BE49-F238E27FC236}">
                <a16:creationId xmlns:a16="http://schemas.microsoft.com/office/drawing/2014/main" id="{21F1F942-8204-9312-A8B5-29CE88F8D77D}"/>
              </a:ext>
            </a:extLst>
          </p:cNvPr>
          <p:cNvSpPr txBox="1">
            <a:spLocks/>
          </p:cNvSpPr>
          <p:nvPr/>
        </p:nvSpPr>
        <p:spPr>
          <a:xfrm>
            <a:off x="764527" y="2537964"/>
            <a:ext cx="10445341" cy="3839390"/>
          </a:xfrm>
          <a:prstGeom prst="rect">
            <a:avLst/>
          </a:prstGeom>
          <a:noFill/>
          <a:ln>
            <a:noFill/>
          </a:ln>
        </p:spPr>
        <p:txBody>
          <a:bodyPr spcFirstLastPara="1" vert="horz" wrap="square" lIns="0" tIns="60960" rIns="0" bIns="60960" rtlCol="0" anchor="t" anchorCtr="0">
            <a:normAutofit fontScale="92500" lnSpcReduction="20000"/>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The raw Korean speech data is preprocessed to remove silence and repetitive noise.</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MFCC &amp; GTCC (Mel-Frequency and Gammatone Cepstral Coefficients) for capturing frequency-based characteristics.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Log-</a:t>
            </a:r>
            <a:r>
              <a:rPr lang="en-US" sz="2000" dirty="0" err="1">
                <a:latin typeface="Times New Roman" panose="02020603050405020304" pitchFamily="18" charset="0"/>
                <a:ea typeface="+mn-lt"/>
                <a:cs typeface="Times New Roman" panose="02020603050405020304" pitchFamily="18" charset="0"/>
              </a:rPr>
              <a:t>mel</a:t>
            </a:r>
            <a:r>
              <a:rPr lang="en-US" sz="2000" dirty="0">
                <a:latin typeface="Times New Roman" panose="02020603050405020304" pitchFamily="18" charset="0"/>
                <a:ea typeface="+mn-lt"/>
                <a:cs typeface="Times New Roman" panose="02020603050405020304" pitchFamily="18" charset="0"/>
              </a:rPr>
              <a:t> spectrogram for visual time-frequency patterns of audio.</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SzTx/>
              <a:buNone/>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TCN (Temporal Convolutional Network) is trained on MFCC &amp; GTCC features to model temporal dependencies in the speech.</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err="1">
                <a:latin typeface="Times New Roman" panose="02020603050405020304" pitchFamily="18" charset="0"/>
                <a:ea typeface="+mn-lt"/>
                <a:cs typeface="Times New Roman" panose="02020603050405020304" pitchFamily="18" charset="0"/>
              </a:rPr>
              <a:t>YAMNet</a:t>
            </a:r>
            <a:r>
              <a:rPr lang="en-US" sz="2000" dirty="0">
                <a:latin typeface="Times New Roman" panose="02020603050405020304" pitchFamily="18" charset="0"/>
                <a:ea typeface="+mn-lt"/>
                <a:cs typeface="Times New Roman" panose="02020603050405020304" pitchFamily="18" charset="0"/>
              </a:rPr>
              <a:t> (a pretrained CNN based on </a:t>
            </a:r>
            <a:r>
              <a:rPr lang="en-US" sz="2000" dirty="0" err="1">
                <a:latin typeface="Times New Roman" panose="02020603050405020304" pitchFamily="18" charset="0"/>
                <a:ea typeface="+mn-lt"/>
                <a:cs typeface="Times New Roman" panose="02020603050405020304" pitchFamily="18" charset="0"/>
              </a:rPr>
              <a:t>MobileNet</a:t>
            </a:r>
            <a:r>
              <a:rPr lang="en-US" sz="2000" dirty="0">
                <a:latin typeface="Times New Roman" panose="02020603050405020304" pitchFamily="18" charset="0"/>
                <a:ea typeface="+mn-lt"/>
                <a:cs typeface="Times New Roman" panose="02020603050405020304" pitchFamily="18" charset="0"/>
              </a:rPr>
              <a:t>) is applied to log-</a:t>
            </a:r>
            <a:r>
              <a:rPr lang="en-US" sz="2000" dirty="0" err="1">
                <a:latin typeface="Times New Roman" panose="02020603050405020304" pitchFamily="18" charset="0"/>
                <a:ea typeface="+mn-lt"/>
                <a:cs typeface="Times New Roman" panose="02020603050405020304" pitchFamily="18" charset="0"/>
              </a:rPr>
              <a:t>mel</a:t>
            </a:r>
            <a:r>
              <a:rPr lang="en-US" sz="2000" dirty="0">
                <a:latin typeface="Times New Roman" panose="02020603050405020304" pitchFamily="18" charset="0"/>
                <a:ea typeface="+mn-lt"/>
                <a:cs typeface="Times New Roman" panose="02020603050405020304" pitchFamily="18" charset="0"/>
              </a:rPr>
              <a:t> spectrograms to extract acoustic and spatial features.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Each model outputs a feature map representing the learned emotional characteristics.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p:txBody>
      </p:sp>
      <p:sp>
        <p:nvSpPr>
          <p:cNvPr id="8" name="Google Shape;171;p27">
            <a:extLst>
              <a:ext uri="{FF2B5EF4-FFF2-40B4-BE49-F238E27FC236}">
                <a16:creationId xmlns:a16="http://schemas.microsoft.com/office/drawing/2014/main" id="{195ABE74-8D85-B822-87B0-57B68760562C}"/>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FD3F1F12-43F4-1C57-1D32-8109248ACDFC}"/>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9</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966931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A4382-1037-0121-4125-8EEFB511E655}"/>
              </a:ext>
            </a:extLst>
          </p:cNvPr>
          <p:cNvSpPr>
            <a:spLocks noGrp="1"/>
          </p:cNvSpPr>
          <p:nvPr>
            <p:ph type="title"/>
          </p:nvPr>
        </p:nvSpPr>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BE65C9A-FE83-E44A-8E67-D925D502D80D}"/>
              </a:ext>
            </a:extLst>
          </p:cNvPr>
          <p:cNvSpPr>
            <a:spLocks noGrp="1"/>
          </p:cNvSpPr>
          <p:nvPr>
            <p:ph type="body" idx="1"/>
          </p:nvPr>
        </p:nvSpPr>
        <p:spPr>
          <a:xfrm>
            <a:off x="1097280" y="1845733"/>
            <a:ext cx="10058400" cy="4437835"/>
          </a:xfrm>
        </p:spPr>
        <p:txBody>
          <a:bodyPr>
            <a:normAutofit lnSpcReduction="10000"/>
          </a:bodyPr>
          <a:lstStyle/>
          <a:p>
            <a:pPr algn="just">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Feature maps are extracted from both the TCN and </a:t>
            </a:r>
            <a:r>
              <a:rPr lang="en-US" sz="1900" dirty="0" err="1">
                <a:latin typeface="Times New Roman" panose="02020603050405020304" pitchFamily="18" charset="0"/>
                <a:cs typeface="Times New Roman" panose="02020603050405020304" pitchFamily="18" charset="0"/>
              </a:rPr>
              <a:t>YAMNet</a:t>
            </a:r>
            <a:r>
              <a:rPr lang="en-US" sz="1900" dirty="0">
                <a:latin typeface="Times New Roman" panose="02020603050405020304" pitchFamily="18" charset="0"/>
                <a:cs typeface="Times New Roman" panose="02020603050405020304" pitchFamily="18" charset="0"/>
              </a:rPr>
              <a:t> models.</a:t>
            </a:r>
            <a:endParaRPr lang="en-IN" sz="19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1900" dirty="0">
                <a:latin typeface="Times New Roman" panose="02020603050405020304" pitchFamily="18" charset="0"/>
                <a:cs typeface="Times New Roman" panose="02020603050405020304" pitchFamily="18" charset="0"/>
              </a:rPr>
              <a:t>These feature maps are fused using three techniques: Canonical Correlation Analysis (CCA), Stationary Wavelet Transform (SWT), and Fuzzy C-means PCA (FCMPCA).</a:t>
            </a:r>
          </a:p>
          <a:p>
            <a:pPr algn="just">
              <a:buFont typeface="Wingdings" panose="05000000000000000000" pitchFamily="2" charset="2"/>
              <a:buChar char="v"/>
            </a:pPr>
            <a:r>
              <a:rPr lang="en-IN" sz="1900" dirty="0">
                <a:latin typeface="Times New Roman" panose="02020603050405020304" pitchFamily="18" charset="0"/>
                <a:cs typeface="Times New Roman" panose="02020603050405020304" pitchFamily="18" charset="0"/>
              </a:rPr>
              <a:t>The fused feature map is then input into a linear classifier for final emotion classification.</a:t>
            </a:r>
          </a:p>
          <a:p>
            <a:pPr algn="just">
              <a:buFont typeface="Wingdings" panose="05000000000000000000" pitchFamily="2" charset="2"/>
              <a:buChar char="v"/>
            </a:pPr>
            <a:r>
              <a:rPr lang="en-IN" sz="1900" dirty="0">
                <a:latin typeface="Times New Roman" panose="02020603050405020304" pitchFamily="18" charset="0"/>
                <a:cs typeface="Times New Roman" panose="02020603050405020304" pitchFamily="18" charset="0"/>
              </a:rPr>
              <a:t>The model is evaluated using datasets including  Korean Speech Emotion Dataset, and benchmarking datasets like Emo-DB, RAVDESS, and TESS.</a:t>
            </a:r>
          </a:p>
          <a:p>
            <a:pPr marL="114300" indent="0" algn="just">
              <a:buNone/>
            </a:pPr>
            <a:r>
              <a:rPr lang="en-IN" sz="1900" b="1" u="sng" dirty="0">
                <a:latin typeface="Times New Roman" panose="02020603050405020304" pitchFamily="18" charset="0"/>
                <a:cs typeface="Times New Roman" panose="02020603050405020304" pitchFamily="18" charset="0"/>
              </a:rPr>
              <a:t>Limitations</a:t>
            </a:r>
          </a:p>
          <a:p>
            <a:pPr algn="just">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The model is trained on a single language (Korean), which may limit its multilingual or cross-cultural applicability.</a:t>
            </a:r>
          </a:p>
          <a:p>
            <a:pPr algn="just">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Emotion recognition accuracy may vary for subtle emotions due to overlapping features.</a:t>
            </a:r>
          </a:p>
          <a:p>
            <a:pPr algn="just">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The use of pretrained CNNs like VGG19 increases computational cost, which may not suit real-time systems.</a:t>
            </a:r>
            <a:endParaRPr lang="en-IN" sz="19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651FCD4-5E47-5317-8825-A887C371ED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106794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0A28-385E-E75D-D074-112B5A0C7B9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8B85B0-9DF1-2FEF-C4F3-A3428C5B24BC}"/>
              </a:ext>
            </a:extLst>
          </p:cNvPr>
          <p:cNvSpPr>
            <a:spLocks noGrp="1"/>
          </p:cNvSpPr>
          <p:nvPr>
            <p:ph type="title"/>
          </p:nvPr>
        </p:nvSpPr>
        <p:spPr>
          <a:xfrm>
            <a:off x="1096433" y="285752"/>
            <a:ext cx="10058400" cy="1452033"/>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C542FE34-4D31-745F-2793-57F34A4AFE32}"/>
              </a:ext>
            </a:extLst>
          </p:cNvPr>
          <p:cNvSpPr txBox="1">
            <a:spLocks noGrp="1"/>
          </p:cNvSpPr>
          <p:nvPr>
            <p:ph type="body" idx="1"/>
          </p:nvPr>
        </p:nvSpPr>
        <p:spPr>
          <a:xfrm>
            <a:off x="557049" y="1737785"/>
            <a:ext cx="11634951" cy="800179"/>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3. 3D Convolutional Neural Network for Speech Emotion Recognition With Its Realization on Intel CPU and NVIDIA GPU[3</a:t>
            </a:r>
            <a:r>
              <a:rPr lang="en-US" b="1" dirty="0">
                <a:solidFill>
                  <a:schemeClr val="tx1"/>
                </a:solidFill>
                <a:latin typeface="Times New Roman" panose="02020603050405020304" pitchFamily="18" charset="0"/>
                <a:ea typeface="+mn-lt"/>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C00405EA-2A95-2BF4-49DB-64385164039A}"/>
              </a:ext>
            </a:extLst>
          </p:cNvPr>
          <p:cNvSpPr txBox="1">
            <a:spLocks/>
          </p:cNvSpPr>
          <p:nvPr/>
        </p:nvSpPr>
        <p:spPr>
          <a:xfrm>
            <a:off x="709492" y="2529879"/>
            <a:ext cx="10445341" cy="3580315"/>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         Journal: IEEE Access</a:t>
            </a:r>
          </a:p>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          Year: </a:t>
            </a:r>
            <a:r>
              <a:rPr lang="en-US" sz="2000" b="1" dirty="0">
                <a:solidFill>
                  <a:schemeClr val="tx1"/>
                </a:solidFill>
                <a:latin typeface="Times New Roman" panose="02020603050405020304" pitchFamily="18" charset="0"/>
                <a:cs typeface="Times New Roman" panose="02020603050405020304" pitchFamily="18" charset="0"/>
              </a:rPr>
              <a:t>2022</a:t>
            </a:r>
          </a:p>
          <a:p>
            <a:pPr marL="186262" indent="0" algn="just">
              <a:buNone/>
            </a:pPr>
            <a:r>
              <a:rPr lang="en-US" sz="2000" dirty="0">
                <a:solidFill>
                  <a:schemeClr val="tx1"/>
                </a:solidFill>
                <a:latin typeface="Times New Roman" panose="02020603050405020304" pitchFamily="18" charset="0"/>
                <a:cs typeface="Times New Roman" panose="02020603050405020304" pitchFamily="18" charset="0"/>
              </a:rPr>
              <a:t>       Technique:</a:t>
            </a:r>
            <a:r>
              <a:rPr lang="en-US" sz="2000" b="1" dirty="0">
                <a:solidFill>
                  <a:schemeClr val="tx1"/>
                </a:solidFill>
                <a:latin typeface="Times New Roman" panose="02020603050405020304" pitchFamily="18" charset="0"/>
                <a:cs typeface="Times New Roman" panose="02020603050405020304" pitchFamily="18" charset="0"/>
              </a:rPr>
              <a:t>3D Convolutional Neural Network       </a:t>
            </a:r>
          </a:p>
          <a:p>
            <a:pPr marL="186262"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Dataset:</a:t>
            </a:r>
            <a:r>
              <a:rPr lang="en-US" sz="2000" b="1" dirty="0" err="1">
                <a:solidFill>
                  <a:schemeClr val="tx1"/>
                </a:solidFill>
                <a:latin typeface="Times New Roman" panose="02020603050405020304" pitchFamily="18" charset="0"/>
                <a:cs typeface="Times New Roman" panose="02020603050405020304" pitchFamily="18" charset="0"/>
              </a:rPr>
              <a:t>EMO-DB</a:t>
            </a:r>
            <a:r>
              <a:rPr lang="en-US" sz="2000" b="1" dirty="0">
                <a:solidFill>
                  <a:schemeClr val="tx1"/>
                </a:solidFill>
                <a:latin typeface="Times New Roman" panose="02020603050405020304" pitchFamily="18" charset="0"/>
                <a:cs typeface="Times New Roman" panose="02020603050405020304" pitchFamily="18" charset="0"/>
              </a:rPr>
              <a:t> and eNTERFACE05</a:t>
            </a:r>
          </a:p>
          <a:p>
            <a:pPr marL="186262" indent="0" algn="just">
              <a:buNone/>
            </a:pPr>
            <a:r>
              <a:rPr lang="en-US" sz="2000" dirty="0">
                <a:solidFill>
                  <a:schemeClr val="tx1"/>
                </a:solidFill>
                <a:latin typeface="Times New Roman" panose="02020603050405020304" pitchFamily="18" charset="0"/>
                <a:cs typeface="Times New Roman" panose="02020603050405020304" pitchFamily="18" charset="0"/>
              </a:rPr>
              <a:t>The study uses The study uses two datasets:</a:t>
            </a:r>
          </a:p>
          <a:p>
            <a:pPr marL="529162" indent="-342900"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EMO-DB: A German emotional speech dataset with 535 utterances from 10 actors across 7 emotions (e.g., sadness, happiness, anger, etc.).</a:t>
            </a:r>
          </a:p>
          <a:p>
            <a:pPr marL="529162" indent="-342900"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eNTERFACE05: An English emotional audio-visual dataset with 1166 video samples from 42 people representing 6 emotions.</a:t>
            </a:r>
          </a:p>
          <a:p>
            <a:pPr algn="just"/>
            <a:endParaRPr lang="en-US" sz="2000" b="1" dirty="0">
              <a:solidFill>
                <a:schemeClr val="tx1"/>
              </a:solidFill>
              <a:latin typeface="Times New Roman" panose="02020603050405020304" pitchFamily="18" charset="0"/>
              <a:cs typeface="Times New Roman" panose="02020603050405020304" pitchFamily="18" charset="0"/>
            </a:endParaRPr>
          </a:p>
          <a:p>
            <a:pPr algn="just">
              <a:buFont typeface="Wingdings" panose="020F0502020204030204" pitchFamily="34" charset="0"/>
              <a:buChar char="Ø"/>
            </a:pPr>
            <a:endParaRPr lang="en-US" sz="2000" dirty="0">
              <a:ea typeface="+mn-lt"/>
              <a:cs typeface="+mn-lt"/>
            </a:endParaRPr>
          </a:p>
        </p:txBody>
      </p:sp>
      <p:sp>
        <p:nvSpPr>
          <p:cNvPr id="8" name="Google Shape;171;p27">
            <a:extLst>
              <a:ext uri="{FF2B5EF4-FFF2-40B4-BE49-F238E27FC236}">
                <a16:creationId xmlns:a16="http://schemas.microsoft.com/office/drawing/2014/main" id="{575D2FB5-23B0-239C-63EB-FFC00023EC1D}"/>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4C8E7FDB-23F4-06AC-9D28-27F3E8211B73}"/>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11</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045441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4511-1F2A-2DD4-6838-AA8A412FCA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E90804F-47AE-69F8-35B6-F9039F2EEFFF}"/>
              </a:ext>
            </a:extLst>
          </p:cNvPr>
          <p:cNvSpPr>
            <a:spLocks noGrp="1"/>
          </p:cNvSpPr>
          <p:nvPr>
            <p:ph type="title"/>
          </p:nvPr>
        </p:nvSpPr>
        <p:spPr>
          <a:xfrm>
            <a:off x="1066800" y="742953"/>
            <a:ext cx="10058400" cy="1096008"/>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3EA25389-2F15-7482-7041-D18CE002BB39}"/>
              </a:ext>
            </a:extLst>
          </p:cNvPr>
          <p:cNvSpPr txBox="1">
            <a:spLocks noGrp="1"/>
          </p:cNvSpPr>
          <p:nvPr>
            <p:ph type="body" idx="1"/>
          </p:nvPr>
        </p:nvSpPr>
        <p:spPr>
          <a:xfrm>
            <a:off x="557049" y="1737785"/>
            <a:ext cx="11634951" cy="800179"/>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3. 3D Convolutional Neural Network for Speech Emotion Recognition With Its Realization on Intel CPU and NVIDIA GPU[3]</a:t>
            </a:r>
          </a:p>
        </p:txBody>
      </p:sp>
      <p:sp>
        <p:nvSpPr>
          <p:cNvPr id="6" name="Content Placeholder 2">
            <a:extLst>
              <a:ext uri="{FF2B5EF4-FFF2-40B4-BE49-F238E27FC236}">
                <a16:creationId xmlns:a16="http://schemas.microsoft.com/office/drawing/2014/main" id="{1CE57A40-8B57-7DBB-DD6B-4145363A9BA2}"/>
              </a:ext>
            </a:extLst>
          </p:cNvPr>
          <p:cNvSpPr txBox="1">
            <a:spLocks/>
          </p:cNvSpPr>
          <p:nvPr/>
        </p:nvSpPr>
        <p:spPr>
          <a:xfrm>
            <a:off x="764527" y="2438400"/>
            <a:ext cx="11325873" cy="3938954"/>
          </a:xfrm>
          <a:prstGeom prst="rect">
            <a:avLst/>
          </a:prstGeom>
          <a:noFill/>
          <a:ln>
            <a:noFill/>
          </a:ln>
        </p:spPr>
        <p:txBody>
          <a:bodyPr spcFirstLastPara="1" vert="horz" wrap="square" lIns="0" tIns="60960" rIns="0" bIns="60960" rtlCol="0"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r>
              <a:rPr lang="en-US" sz="1900" dirty="0">
                <a:latin typeface="Times New Roman" panose="02020603050405020304" pitchFamily="18" charset="0"/>
                <a:ea typeface="+mn-lt"/>
                <a:cs typeface="Times New Roman" panose="02020603050405020304" pitchFamily="18" charset="0"/>
              </a:rPr>
              <a:t>Speech signals are preprocessed and reconstructed into 3D phase space representations based on nonlinear time-series analysis.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endParaRPr lang="en-US" sz="19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r>
              <a:rPr lang="en-US" sz="1900" dirty="0">
                <a:latin typeface="Times New Roman" panose="02020603050405020304" pitchFamily="18" charset="0"/>
                <a:ea typeface="+mn-lt"/>
                <a:cs typeface="Times New Roman" panose="02020603050405020304" pitchFamily="18" charset="0"/>
              </a:rPr>
              <a:t>Using mutual information and false nearest neighbor methods, optimal time delays (τ) and embedding dimension (d) are calculated.</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endParaRPr lang="en-US" sz="19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r>
              <a:rPr lang="en-US" sz="1900" dirty="0">
                <a:latin typeface="Times New Roman" panose="02020603050405020304" pitchFamily="18" charset="0"/>
                <a:ea typeface="+mn-lt"/>
                <a:cs typeface="Times New Roman" panose="02020603050405020304" pitchFamily="18" charset="0"/>
              </a:rPr>
              <a:t>Each speech signal is transformed into a 3D tensor (256×256×256) representing its emotional structure.</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endParaRPr lang="en-US" sz="19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r>
              <a:rPr lang="en-US" sz="1900" dirty="0">
                <a:latin typeface="Times New Roman" panose="02020603050405020304" pitchFamily="18" charset="0"/>
                <a:ea typeface="+mn-lt"/>
                <a:cs typeface="Times New Roman" panose="02020603050405020304" pitchFamily="18" charset="0"/>
              </a:rPr>
              <a:t>These tensors are used as inputs to a 3D Convolutional Neural Network (3D CNN) inspired by the VGG16 architecture.</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endParaRPr lang="en-US" sz="19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r>
              <a:rPr lang="en-US" sz="1900" dirty="0">
                <a:latin typeface="Times New Roman" panose="02020603050405020304" pitchFamily="18" charset="0"/>
                <a:ea typeface="+mn-lt"/>
                <a:cs typeface="Times New Roman" panose="02020603050405020304" pitchFamily="18" charset="0"/>
              </a:rPr>
              <a:t>The model includes five 3D convolutional layers, max-pooling, and fully connected layers for classification</a:t>
            </a:r>
          </a:p>
          <a:p>
            <a:pPr marL="0" marR="0" lvl="0" indent="0" algn="just" defTabSz="914400" rtl="0" eaLnBrk="0" fontAlgn="base" latinLnBrk="0" hangingPunct="0">
              <a:lnSpc>
                <a:spcPct val="100000"/>
              </a:lnSpc>
              <a:spcBef>
                <a:spcPct val="0"/>
              </a:spcBef>
              <a:spcAft>
                <a:spcPct val="0"/>
              </a:spcAft>
              <a:buSzTx/>
              <a:buNone/>
              <a:tabLst>
                <a:tab pos="1971675" algn="l"/>
              </a:tabLst>
            </a:pPr>
            <a:endParaRPr lang="en-US" sz="19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tab pos="1971675" algn="l"/>
              </a:tabLst>
            </a:pPr>
            <a:r>
              <a:rPr lang="en-US" sz="1900" dirty="0">
                <a:latin typeface="Times New Roman" panose="02020603050405020304" pitchFamily="18" charset="0"/>
                <a:ea typeface="+mn-lt"/>
                <a:cs typeface="Times New Roman" panose="02020603050405020304" pitchFamily="18" charset="0"/>
              </a:rPr>
              <a:t>A separate 3D CNN is used for gender recognition, and emotion-specific models are adjusted based on male/female input.</a:t>
            </a:r>
          </a:p>
        </p:txBody>
      </p:sp>
      <p:sp>
        <p:nvSpPr>
          <p:cNvPr id="8" name="Google Shape;171;p27">
            <a:extLst>
              <a:ext uri="{FF2B5EF4-FFF2-40B4-BE49-F238E27FC236}">
                <a16:creationId xmlns:a16="http://schemas.microsoft.com/office/drawing/2014/main" id="{84085201-10B2-D5CD-00FA-F2E01D040577}"/>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2BD710D0-ED33-8FFC-7D50-6F901B1846BB}"/>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12</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174903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19E6-496A-3E23-24DE-9EA0E3EF67F9}"/>
              </a:ext>
            </a:extLst>
          </p:cNvPr>
          <p:cNvSpPr>
            <a:spLocks noGrp="1"/>
          </p:cNvSpPr>
          <p:nvPr>
            <p:ph type="title"/>
          </p:nvPr>
        </p:nvSpPr>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D9E9877-3890-A898-91D9-6A63F5C9B453}"/>
              </a:ext>
            </a:extLst>
          </p:cNvPr>
          <p:cNvSpPr>
            <a:spLocks noGrp="1"/>
          </p:cNvSpPr>
          <p:nvPr>
            <p:ph type="body" idx="1"/>
          </p:nvPr>
        </p:nvSpPr>
        <p:spPr>
          <a:xfrm>
            <a:off x="1097280" y="1737359"/>
            <a:ext cx="10058400" cy="4628271"/>
          </a:xfrm>
        </p:spPr>
        <p:txBody>
          <a:bodyPr>
            <a:normAutofit/>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After feature extraction, the model flattens the 3D feature map and passes it to two fully connected (FC) layers.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FC1: 1000 neurons with </a:t>
            </a: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and dropout (rate = 0.5)</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FC2: Final classification layer with 6 or 7 neurons (depending on the dataset), using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activation.</a:t>
            </a:r>
          </a:p>
          <a:p>
            <a:pPr marL="114300" indent="0" algn="just">
              <a:buNone/>
            </a:pPr>
            <a:r>
              <a:rPr lang="en-US" b="1" u="sng" dirty="0">
                <a:latin typeface="Times New Roman" panose="02020603050405020304" pitchFamily="18" charset="0"/>
                <a:cs typeface="Times New Roman" panose="02020603050405020304" pitchFamily="18" charset="0"/>
              </a:rPr>
              <a:t>Limitations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Computational complexity is high due to 3D tensor creation and deep CNN architecture, which may limit deployment in low-resource environments.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Limited to EMO-DB and eNTERFACE05, which may not fully reflect multilingual or spontaneous real-world scenarios.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Optimal time delay (τ) and tensor size require manual computation using mutual information, which adds complexity and reduces scalability.</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64338F3-60FF-B126-681B-021734C796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969634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216D7-DCC3-570B-B0C7-2515B2CC4B0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C836DD6-2B4C-270E-6AB7-4CF24E9C753A}"/>
              </a:ext>
            </a:extLst>
          </p:cNvPr>
          <p:cNvSpPr>
            <a:spLocks noGrp="1"/>
          </p:cNvSpPr>
          <p:nvPr>
            <p:ph type="title"/>
          </p:nvPr>
        </p:nvSpPr>
        <p:spPr>
          <a:xfrm>
            <a:off x="1096433" y="285752"/>
            <a:ext cx="10058400" cy="1452033"/>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E77BA16A-CD64-4CA0-774F-FFFFE928ACC5}"/>
              </a:ext>
            </a:extLst>
          </p:cNvPr>
          <p:cNvSpPr txBox="1">
            <a:spLocks noGrp="1"/>
          </p:cNvSpPr>
          <p:nvPr>
            <p:ph type="body" idx="1"/>
          </p:nvPr>
        </p:nvSpPr>
        <p:spPr>
          <a:xfrm>
            <a:off x="557049" y="1737785"/>
            <a:ext cx="11634951" cy="523180"/>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4. Autoencoder With Emotion Embedding for Speech Emotion Recognition[4</a:t>
            </a:r>
            <a:r>
              <a:rPr lang="en-US" b="1" dirty="0">
                <a:solidFill>
                  <a:schemeClr val="tx1"/>
                </a:solidFill>
                <a:latin typeface="Times New Roman" panose="02020603050405020304" pitchFamily="18" charset="0"/>
                <a:ea typeface="+mn-lt"/>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BEDC9CE-5CE9-53A3-8A29-13DDE53A8655}"/>
              </a:ext>
            </a:extLst>
          </p:cNvPr>
          <p:cNvSpPr txBox="1">
            <a:spLocks/>
          </p:cNvSpPr>
          <p:nvPr/>
        </p:nvSpPr>
        <p:spPr>
          <a:xfrm>
            <a:off x="709492" y="2346961"/>
            <a:ext cx="10445341" cy="3763234"/>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         Journal: IEEE Access</a:t>
            </a:r>
          </a:p>
          <a:p>
            <a:pPr marL="0" indent="0" algn="just">
              <a:buNone/>
            </a:pPr>
            <a:r>
              <a:rPr lang="en-US" sz="1900" dirty="0">
                <a:solidFill>
                  <a:schemeClr val="tx1"/>
                </a:solidFill>
                <a:latin typeface="Times New Roman" panose="02020603050405020304" pitchFamily="18" charset="0"/>
                <a:cs typeface="Times New Roman" panose="02020603050405020304" pitchFamily="18" charset="0"/>
              </a:rPr>
              <a:t>          Year: </a:t>
            </a:r>
            <a:r>
              <a:rPr lang="en-US" sz="1900" b="1" dirty="0">
                <a:solidFill>
                  <a:schemeClr val="tx1"/>
                </a:solidFill>
                <a:latin typeface="Times New Roman" panose="02020603050405020304" pitchFamily="18" charset="0"/>
                <a:cs typeface="Times New Roman" panose="02020603050405020304" pitchFamily="18" charset="0"/>
              </a:rPr>
              <a:t>2021</a:t>
            </a:r>
          </a:p>
          <a:p>
            <a:pPr marL="186262" indent="0" algn="just">
              <a:buNone/>
            </a:pPr>
            <a:r>
              <a:rPr lang="en-US" sz="1900" dirty="0">
                <a:solidFill>
                  <a:schemeClr val="tx1"/>
                </a:solidFill>
                <a:latin typeface="Times New Roman" panose="02020603050405020304" pitchFamily="18" charset="0"/>
                <a:cs typeface="Times New Roman" panose="02020603050405020304" pitchFamily="18" charset="0"/>
              </a:rPr>
              <a:t>       </a:t>
            </a:r>
            <a:r>
              <a:rPr lang="en-US" sz="1900" dirty="0" err="1">
                <a:solidFill>
                  <a:schemeClr val="tx1"/>
                </a:solidFill>
                <a:latin typeface="Times New Roman" panose="02020603050405020304" pitchFamily="18" charset="0"/>
                <a:cs typeface="Times New Roman" panose="02020603050405020304" pitchFamily="18" charset="0"/>
              </a:rPr>
              <a:t>Technique:</a:t>
            </a:r>
            <a:r>
              <a:rPr lang="en-US" sz="1900" b="1" dirty="0" err="1">
                <a:solidFill>
                  <a:schemeClr val="tx1"/>
                </a:solidFill>
                <a:latin typeface="Times New Roman" panose="02020603050405020304" pitchFamily="18" charset="0"/>
                <a:cs typeface="Times New Roman" panose="02020603050405020304" pitchFamily="18" charset="0"/>
              </a:rPr>
              <a:t>Modified</a:t>
            </a:r>
            <a:r>
              <a:rPr lang="en-US" sz="1900" b="1" dirty="0">
                <a:solidFill>
                  <a:schemeClr val="tx1"/>
                </a:solidFill>
                <a:latin typeface="Times New Roman" panose="02020603050405020304" pitchFamily="18" charset="0"/>
                <a:cs typeface="Times New Roman" panose="02020603050405020304" pitchFamily="18" charset="0"/>
              </a:rPr>
              <a:t> Autoencoder with Emotion Embedding and Instance Normalization</a:t>
            </a:r>
          </a:p>
          <a:p>
            <a:pPr marL="186262" indent="0" algn="just">
              <a:buNone/>
            </a:pPr>
            <a:r>
              <a:rPr lang="en-US" sz="1900" b="1" dirty="0">
                <a:solidFill>
                  <a:schemeClr val="tx1"/>
                </a:solidFill>
                <a:latin typeface="Times New Roman" panose="02020603050405020304" pitchFamily="18" charset="0"/>
                <a:cs typeface="Times New Roman" panose="02020603050405020304" pitchFamily="18" charset="0"/>
              </a:rPr>
              <a:t>        </a:t>
            </a:r>
            <a:r>
              <a:rPr lang="en-US" sz="1900" dirty="0">
                <a:solidFill>
                  <a:schemeClr val="tx1"/>
                </a:solidFill>
                <a:latin typeface="Times New Roman" panose="02020603050405020304" pitchFamily="18" charset="0"/>
                <a:cs typeface="Times New Roman" panose="02020603050405020304" pitchFamily="18" charset="0"/>
              </a:rPr>
              <a:t>Dataset: </a:t>
            </a:r>
            <a:r>
              <a:rPr lang="en-US" sz="1900" b="1" dirty="0">
                <a:solidFill>
                  <a:schemeClr val="tx1"/>
                </a:solidFill>
                <a:latin typeface="Times New Roman" panose="02020603050405020304" pitchFamily="18" charset="0"/>
                <a:cs typeface="Times New Roman" panose="02020603050405020304" pitchFamily="18" charset="0"/>
              </a:rPr>
              <a:t>IEMOCAP and EMODB</a:t>
            </a:r>
          </a:p>
          <a:p>
            <a:pPr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IEMOCAP: Contains 12 hours of audio-visual data recorded from 10 actors in scripted and spontaneous scenarios. This study uses only audio and focuses on 4 emotions: angry, happy (including excited), sad, and neutral.</a:t>
            </a:r>
          </a:p>
          <a:p>
            <a:pPr algn="just">
              <a:buFont typeface="Wingdings" panose="05000000000000000000" pitchFamily="2" charset="2"/>
              <a:buChar char="v"/>
            </a:pPr>
            <a:r>
              <a:rPr lang="en-US" sz="1900" dirty="0">
                <a:solidFill>
                  <a:schemeClr val="tx1"/>
                </a:solidFill>
                <a:latin typeface="Times New Roman" panose="02020603050405020304" pitchFamily="18" charset="0"/>
                <a:cs typeface="Times New Roman" panose="02020603050405020304" pitchFamily="18" charset="0"/>
              </a:rPr>
              <a:t>EMODB: German dataset with 535 utterances covering 7 emotions (anger, fear, happiness, sadness, disgust, boredom, and neutral) spoken by 10 actors.</a:t>
            </a:r>
          </a:p>
          <a:p>
            <a:pPr algn="just">
              <a:buFont typeface="Wingdings" panose="020F0502020204030204" pitchFamily="34" charset="0"/>
              <a:buChar char="Ø"/>
            </a:pPr>
            <a:endParaRPr lang="en-US" sz="2000" dirty="0">
              <a:ea typeface="+mn-lt"/>
              <a:cs typeface="+mn-lt"/>
            </a:endParaRPr>
          </a:p>
        </p:txBody>
      </p:sp>
      <p:sp>
        <p:nvSpPr>
          <p:cNvPr id="8" name="Google Shape;171;p27">
            <a:extLst>
              <a:ext uri="{FF2B5EF4-FFF2-40B4-BE49-F238E27FC236}">
                <a16:creationId xmlns:a16="http://schemas.microsoft.com/office/drawing/2014/main" id="{9B4658BB-BC20-87E4-4964-53112CEC9289}"/>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56369E79-71D7-9E4F-1054-272C28D603EA}"/>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14</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969632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3291F-394D-FE5D-FC91-0D613D66988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6D011FD-7D6F-04DD-31CB-E90E2557F1F0}"/>
              </a:ext>
            </a:extLst>
          </p:cNvPr>
          <p:cNvSpPr>
            <a:spLocks noGrp="1"/>
          </p:cNvSpPr>
          <p:nvPr>
            <p:ph type="title"/>
          </p:nvPr>
        </p:nvSpPr>
        <p:spPr>
          <a:xfrm>
            <a:off x="1066800" y="742953"/>
            <a:ext cx="10058400" cy="1096008"/>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BEF60B86-22B8-A745-AA61-AD7DB87E6BF2}"/>
              </a:ext>
            </a:extLst>
          </p:cNvPr>
          <p:cNvSpPr txBox="1">
            <a:spLocks noGrp="1"/>
          </p:cNvSpPr>
          <p:nvPr>
            <p:ph type="body" idx="1"/>
          </p:nvPr>
        </p:nvSpPr>
        <p:spPr>
          <a:xfrm>
            <a:off x="557049" y="1737785"/>
            <a:ext cx="11634951" cy="523180"/>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4. Autoencoder With Emotion Embedding for Speech Emotion Recognition[4]</a:t>
            </a:r>
          </a:p>
        </p:txBody>
      </p:sp>
      <p:sp>
        <p:nvSpPr>
          <p:cNvPr id="6" name="Content Placeholder 2">
            <a:extLst>
              <a:ext uri="{FF2B5EF4-FFF2-40B4-BE49-F238E27FC236}">
                <a16:creationId xmlns:a16="http://schemas.microsoft.com/office/drawing/2014/main" id="{139C30FC-E3C1-922A-D53D-B0950EF3CF08}"/>
              </a:ext>
            </a:extLst>
          </p:cNvPr>
          <p:cNvSpPr txBox="1">
            <a:spLocks/>
          </p:cNvSpPr>
          <p:nvPr/>
        </p:nvSpPr>
        <p:spPr>
          <a:xfrm>
            <a:off x="764527" y="2184401"/>
            <a:ext cx="11315713" cy="4192954"/>
          </a:xfrm>
          <a:prstGeom prst="rect">
            <a:avLst/>
          </a:prstGeom>
          <a:noFill/>
          <a:ln>
            <a:noFill/>
          </a:ln>
        </p:spPr>
        <p:txBody>
          <a:bodyPr spcFirstLastPara="1" vert="horz" wrap="square" lIns="0" tIns="60960" rIns="0" bIns="60960" rtlCol="0"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Log-magnitude spectrograms are used to represent speech signals for spectral analysis.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Statistical acoustic features (IS10 feature set) are extracted using the </a:t>
            </a:r>
            <a:r>
              <a:rPr lang="en-US" sz="2000" dirty="0" err="1">
                <a:latin typeface="Times New Roman" panose="02020603050405020304" pitchFamily="18" charset="0"/>
                <a:ea typeface="+mn-lt"/>
                <a:cs typeface="Times New Roman" panose="02020603050405020304" pitchFamily="18" charset="0"/>
              </a:rPr>
              <a:t>openSMILE</a:t>
            </a:r>
            <a:r>
              <a:rPr lang="en-US" sz="2000" dirty="0">
                <a:latin typeface="Times New Roman" panose="02020603050405020304" pitchFamily="18" charset="0"/>
                <a:ea typeface="+mn-lt"/>
                <a:cs typeface="Times New Roman" panose="02020603050405020304" pitchFamily="18" charset="0"/>
              </a:rPr>
              <a:t> toolkit.</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A convolutional autoencoder architecture is proposed, using CNNs and GRUs for encoding and decoding.</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cs typeface="Times New Roman" panose="02020603050405020304" pitchFamily="18" charset="0"/>
              </a:rPr>
              <a:t>Instance Normalization (IN) will Normalizes each sample independently to remove non-emotional style variations.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The encoder’s output is  compressed, emotion-rich latent representation of the input spectrogram.</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The autoencoder is trained to reconstruct inputs while learning deep emotional features guided by labels.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This fusion improves classification by combining learned and handcrafted features, capturing both global and local patterns.</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p:txBody>
      </p:sp>
      <p:sp>
        <p:nvSpPr>
          <p:cNvPr id="8" name="Google Shape;171;p27">
            <a:extLst>
              <a:ext uri="{FF2B5EF4-FFF2-40B4-BE49-F238E27FC236}">
                <a16:creationId xmlns:a16="http://schemas.microsoft.com/office/drawing/2014/main" id="{CBC84877-C641-2E30-EE65-A06A7B7B64F4}"/>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776522A8-42D0-46BC-A074-B237D32385D4}"/>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15</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083835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D7E6-A5DF-43E5-23A7-B48FA020D8B9}"/>
              </a:ext>
            </a:extLst>
          </p:cNvPr>
          <p:cNvSpPr>
            <a:spLocks noGrp="1"/>
          </p:cNvSpPr>
          <p:nvPr>
            <p:ph type="title"/>
          </p:nvPr>
        </p:nvSpPr>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C55C0AD-7D82-4EA0-D4D0-5A4EB712D58E}"/>
              </a:ext>
            </a:extLst>
          </p:cNvPr>
          <p:cNvSpPr>
            <a:spLocks noGrp="1"/>
          </p:cNvSpPr>
          <p:nvPr>
            <p:ph type="body" idx="1"/>
          </p:nvPr>
        </p:nvSpPr>
        <p:spPr>
          <a:xfrm>
            <a:off x="1097280" y="1845734"/>
            <a:ext cx="10058400" cy="4412826"/>
          </a:xfrm>
        </p:spPr>
        <p:txBody>
          <a:bodyPr>
            <a:normAutofit/>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fused feature vector is passed to a fully connected network for final classification.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Data augmentation is performed by random frame sampling of spectrograms to address dataset limitations.</a:t>
            </a:r>
          </a:p>
          <a:p>
            <a:pPr marL="114300" indent="0" algn="just">
              <a:buNone/>
            </a:pPr>
            <a:r>
              <a:rPr lang="en-IN" b="1" u="sng" dirty="0">
                <a:latin typeface="Times New Roman" panose="02020603050405020304" pitchFamily="18" charset="0"/>
                <a:cs typeface="Times New Roman" panose="02020603050405020304" pitchFamily="18" charset="0"/>
              </a:rPr>
              <a:t>Limitations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Recognition of some emotions (e.g., happiness vs. neutral) remains challenging due to acoustic overlap.</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model is trained only on IEMOCAP and EMODB, limiting multilingual or real-world generalization.</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system may depend on high-quality labeled data, and performance may vary across different annotation schemes.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246F76C-F136-9A00-F3F4-9D58D22322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903064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23CE7-DCB1-2991-8388-21F455967F8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57E383-E3E1-D4A0-AC8F-16164B50C953}"/>
              </a:ext>
            </a:extLst>
          </p:cNvPr>
          <p:cNvSpPr>
            <a:spLocks noGrp="1"/>
          </p:cNvSpPr>
          <p:nvPr>
            <p:ph type="title"/>
          </p:nvPr>
        </p:nvSpPr>
        <p:spPr>
          <a:xfrm>
            <a:off x="1096433" y="285752"/>
            <a:ext cx="10058400" cy="1452033"/>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C11A4B71-2935-0B9E-5A47-77C7D4B1FFDB}"/>
              </a:ext>
            </a:extLst>
          </p:cNvPr>
          <p:cNvSpPr txBox="1">
            <a:spLocks noGrp="1"/>
          </p:cNvSpPr>
          <p:nvPr>
            <p:ph type="body" idx="1"/>
          </p:nvPr>
        </p:nvSpPr>
        <p:spPr>
          <a:xfrm>
            <a:off x="0" y="1737785"/>
            <a:ext cx="13404715" cy="523180"/>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       5. Hybrid LSTM-Transformer Model for Emotion  Recognition From Speech [5</a:t>
            </a:r>
            <a:r>
              <a:rPr lang="en-US" b="1" dirty="0">
                <a:solidFill>
                  <a:schemeClr val="tx1"/>
                </a:solidFill>
                <a:latin typeface="Times New Roman" panose="02020603050405020304" pitchFamily="18" charset="0"/>
                <a:ea typeface="+mn-lt"/>
                <a:cs typeface="Times New Roman" panose="02020603050405020304" pitchFamily="18" charset="0"/>
              </a:rPr>
              <a: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836A2976-1E98-E994-382F-26FD53E00DD0}"/>
              </a:ext>
            </a:extLst>
          </p:cNvPr>
          <p:cNvSpPr txBox="1">
            <a:spLocks/>
          </p:cNvSpPr>
          <p:nvPr/>
        </p:nvSpPr>
        <p:spPr>
          <a:xfrm>
            <a:off x="709492" y="2346961"/>
            <a:ext cx="10445341" cy="3763234"/>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         Journal: IEEE Access</a:t>
            </a:r>
          </a:p>
          <a:p>
            <a:pPr marL="0" indent="0" algn="just">
              <a:buNone/>
            </a:pPr>
            <a:r>
              <a:rPr lang="en-US" sz="2000" dirty="0">
                <a:solidFill>
                  <a:schemeClr val="tx1"/>
                </a:solidFill>
                <a:latin typeface="Times New Roman" panose="02020603050405020304" pitchFamily="18" charset="0"/>
                <a:cs typeface="Times New Roman" panose="02020603050405020304" pitchFamily="18" charset="0"/>
              </a:rPr>
              <a:t>          Year: </a:t>
            </a:r>
            <a:r>
              <a:rPr lang="en-US" sz="2000" b="1" dirty="0">
                <a:solidFill>
                  <a:schemeClr val="tx1"/>
                </a:solidFill>
                <a:latin typeface="Times New Roman" panose="02020603050405020304" pitchFamily="18" charset="0"/>
                <a:cs typeface="Times New Roman" panose="02020603050405020304" pitchFamily="18" charset="0"/>
              </a:rPr>
              <a:t>2023</a:t>
            </a:r>
          </a:p>
          <a:p>
            <a:pPr marL="186262" indent="0" algn="just">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Technique:</a:t>
            </a:r>
            <a:r>
              <a:rPr lang="en-US" sz="2000" b="1" dirty="0" err="1">
                <a:solidFill>
                  <a:schemeClr val="tx1"/>
                </a:solidFill>
                <a:latin typeface="Times New Roman" panose="02020603050405020304" pitchFamily="18" charset="0"/>
                <a:cs typeface="Times New Roman" panose="02020603050405020304" pitchFamily="18" charset="0"/>
              </a:rPr>
              <a:t>LSTM-Transformer</a:t>
            </a:r>
            <a:r>
              <a:rPr lang="en-US" sz="2000" b="1" dirty="0">
                <a:solidFill>
                  <a:schemeClr val="tx1"/>
                </a:solidFill>
                <a:latin typeface="Times New Roman" panose="02020603050405020304" pitchFamily="18" charset="0"/>
                <a:cs typeface="Times New Roman" panose="02020603050405020304" pitchFamily="18" charset="0"/>
              </a:rPr>
              <a:t>  Hybrid</a:t>
            </a:r>
          </a:p>
          <a:p>
            <a:pPr marL="186262" indent="0" algn="just">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Dataset: </a:t>
            </a:r>
            <a:r>
              <a:rPr lang="en-US" sz="2000" b="1" dirty="0">
                <a:solidFill>
                  <a:schemeClr val="tx1"/>
                </a:solidFill>
                <a:latin typeface="Times New Roman" panose="02020603050405020304" pitchFamily="18" charset="0"/>
                <a:cs typeface="Times New Roman" panose="02020603050405020304" pitchFamily="18" charset="0"/>
              </a:rPr>
              <a:t> RAVEDESS and EMODB</a:t>
            </a:r>
          </a:p>
          <a:p>
            <a:pPr marL="186262" indent="0" algn="just">
              <a:buNone/>
            </a:pPr>
            <a:endParaRPr lang="en-US" sz="2000" b="1"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000" dirty="0">
                <a:latin typeface="Times New Roman" panose="02020603050405020304" pitchFamily="18" charset="0"/>
                <a:ea typeface="+mn-lt"/>
                <a:cs typeface="Times New Roman" panose="02020603050405020304" pitchFamily="18" charset="0"/>
              </a:rPr>
              <a:t>RAVDESS: 1,440 speech samples from 24 actors (12 male, 12 female), 8 emotions.</a:t>
            </a:r>
          </a:p>
          <a:p>
            <a:pPr algn="just">
              <a:buFont typeface="Wingdings" panose="05000000000000000000" pitchFamily="2" charset="2"/>
              <a:buChar char="v"/>
            </a:pPr>
            <a:r>
              <a:rPr lang="en-US" sz="2000" dirty="0">
                <a:latin typeface="Times New Roman" panose="02020603050405020304" pitchFamily="18" charset="0"/>
                <a:ea typeface="+mn-lt"/>
                <a:cs typeface="Times New Roman" panose="02020603050405020304" pitchFamily="18" charset="0"/>
              </a:rPr>
              <a:t>EMODB: 535 German utterances by 10 actors with 7 emotional categories.</a:t>
            </a:r>
          </a:p>
        </p:txBody>
      </p:sp>
      <p:sp>
        <p:nvSpPr>
          <p:cNvPr id="8" name="Google Shape;171;p27">
            <a:extLst>
              <a:ext uri="{FF2B5EF4-FFF2-40B4-BE49-F238E27FC236}">
                <a16:creationId xmlns:a16="http://schemas.microsoft.com/office/drawing/2014/main" id="{B5338CAD-2339-7A3F-20EE-BBB22A8D5A5E}"/>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3CD13EF4-E871-7CD8-DAC0-224DEE568B77}"/>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17</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50730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6B5E-2653-6AE7-F2F6-A238D029002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84676D3-1A4C-9BE2-40F3-BDAA1D4B5E92}"/>
              </a:ext>
            </a:extLst>
          </p:cNvPr>
          <p:cNvSpPr>
            <a:spLocks noGrp="1"/>
          </p:cNvSpPr>
          <p:nvPr>
            <p:ph type="title"/>
          </p:nvPr>
        </p:nvSpPr>
        <p:spPr>
          <a:xfrm>
            <a:off x="1066800" y="742953"/>
            <a:ext cx="10058400" cy="1096008"/>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p>
        </p:txBody>
      </p:sp>
      <p:sp>
        <p:nvSpPr>
          <p:cNvPr id="5" name="Text Placeholder 4">
            <a:extLst>
              <a:ext uri="{FF2B5EF4-FFF2-40B4-BE49-F238E27FC236}">
                <a16:creationId xmlns:a16="http://schemas.microsoft.com/office/drawing/2014/main" id="{C0279065-93B4-73AD-B780-083536608DF6}"/>
              </a:ext>
            </a:extLst>
          </p:cNvPr>
          <p:cNvSpPr txBox="1">
            <a:spLocks noGrp="1"/>
          </p:cNvSpPr>
          <p:nvPr>
            <p:ph type="body" idx="1"/>
          </p:nvPr>
        </p:nvSpPr>
        <p:spPr>
          <a:xfrm>
            <a:off x="557049" y="1737785"/>
            <a:ext cx="11634951" cy="523180"/>
          </a:xfrm>
          <a:prstGeom prst="rect">
            <a:avLst/>
          </a:prstGeom>
          <a:noFill/>
        </p:spPr>
        <p:txBody>
          <a:bodyPr wrap="square">
            <a:spAutoFit/>
          </a:bodyPr>
          <a:lstStyle/>
          <a:p>
            <a:pPr marL="186262" indent="0" algn="just">
              <a:buNone/>
            </a:pPr>
            <a:r>
              <a:rPr lang="en-US" b="1" dirty="0">
                <a:solidFill>
                  <a:schemeClr val="tx1"/>
                </a:solidFill>
                <a:latin typeface="Times New Roman" panose="02020603050405020304" pitchFamily="18" charset="0"/>
                <a:cs typeface="Times New Roman" panose="02020603050405020304" pitchFamily="18" charset="0"/>
              </a:rPr>
              <a:t>5. Hybrid LSTM-Transformer Model for Emotion  Recognition From Speech [5]</a:t>
            </a:r>
          </a:p>
        </p:txBody>
      </p:sp>
      <p:sp>
        <p:nvSpPr>
          <p:cNvPr id="6" name="Content Placeholder 2">
            <a:extLst>
              <a:ext uri="{FF2B5EF4-FFF2-40B4-BE49-F238E27FC236}">
                <a16:creationId xmlns:a16="http://schemas.microsoft.com/office/drawing/2014/main" id="{F2A6DF28-4D01-826C-DFB3-6DC7DFCB8D7D}"/>
              </a:ext>
            </a:extLst>
          </p:cNvPr>
          <p:cNvSpPr txBox="1">
            <a:spLocks/>
          </p:cNvSpPr>
          <p:nvPr/>
        </p:nvSpPr>
        <p:spPr>
          <a:xfrm>
            <a:off x="764527" y="2260965"/>
            <a:ext cx="10445341" cy="4116389"/>
          </a:xfrm>
          <a:prstGeom prst="rect">
            <a:avLst/>
          </a:prstGeom>
          <a:noFill/>
          <a:ln>
            <a:noFill/>
          </a:ln>
        </p:spPr>
        <p:txBody>
          <a:bodyPr spcFirstLastPara="1" vert="horz" wrap="square" lIns="0" tIns="60960" rIns="0" bIns="60960" rtlCol="0"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900"/>
              </a:spcBef>
              <a:spcAft>
                <a:spcPts val="0"/>
              </a:spcAft>
              <a:buClr>
                <a:schemeClr val="accent1"/>
              </a:buClr>
              <a:buSzPts val="1400"/>
              <a:buFont typeface="Calibri"/>
              <a:buChar char="l"/>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Speech signals are transformed into spectrograms using Short-Time Fourier Transform (STFT) to analyze frequency over time.</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50 Mel Frequency Cepstral Coefficients (MFCCs) are extracted to capture important speech characteristics like pitch.</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Features are passed into an LSTM layer which sequentially processes the data, learning temporal patterns and preserving order information.</a:t>
            </a: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endParaRPr lang="en-US" sz="2000" dirty="0">
              <a:latin typeface="Times New Roman" panose="02020603050405020304" pitchFamily="18" charset="0"/>
              <a:ea typeface="+mn-l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SzTx/>
              <a:buFont typeface="Wingdings" panose="05000000000000000000" pitchFamily="2" charset="2"/>
              <a:buChar char="v"/>
              <a:tabLst/>
            </a:pPr>
            <a:r>
              <a:rPr lang="en-US" sz="2000" dirty="0">
                <a:latin typeface="Times New Roman" panose="02020603050405020304" pitchFamily="18" charset="0"/>
                <a:ea typeface="+mn-lt"/>
                <a:cs typeface="Times New Roman" panose="02020603050405020304" pitchFamily="18" charset="0"/>
              </a:rPr>
              <a:t>Output from the LSTM is sent into a Transformer Encoder which applies Multi-Head Self-Attention to identify important time steps and global dependencies.</a:t>
            </a:r>
          </a:p>
        </p:txBody>
      </p:sp>
      <p:sp>
        <p:nvSpPr>
          <p:cNvPr id="8" name="Google Shape;171;p27">
            <a:extLst>
              <a:ext uri="{FF2B5EF4-FFF2-40B4-BE49-F238E27FC236}">
                <a16:creationId xmlns:a16="http://schemas.microsoft.com/office/drawing/2014/main" id="{8F336A83-6C29-4F15-A4FD-9D2E95BE7178}"/>
              </a:ext>
            </a:extLst>
          </p:cNvPr>
          <p:cNvSpPr txBox="1">
            <a:spLocks noGrp="1"/>
          </p:cNvSpPr>
          <p:nvPr>
            <p:ph type="ftr" idx="11"/>
          </p:nvPr>
        </p:nvSpPr>
        <p:spPr>
          <a:xfrm>
            <a:off x="3686186" y="6459786"/>
            <a:ext cx="4822804" cy="365125"/>
          </a:xfrm>
          <a:prstGeom prst="rect">
            <a:avLst/>
          </a:prstGeom>
          <a:noFill/>
          <a:ln>
            <a:noFill/>
          </a:ln>
        </p:spPr>
        <p:txBody>
          <a:bodyPr spcFirstLastPara="1" wrap="square" lIns="91433" tIns="45700" rIns="91433" bIns="45700" anchor="ctr" anchorCtr="0">
            <a:noAutofit/>
          </a:bodyPr>
          <a:lstStyle/>
          <a:p>
            <a:r>
              <a:rPr lang="en-GB" sz="1200" dirty="0">
                <a:latin typeface="Times New Roman"/>
                <a:ea typeface="Times New Roman"/>
                <a:cs typeface="Times New Roman"/>
                <a:sym typeface="Times New Roman"/>
              </a:rPr>
              <a:t>CENTRE FOR ARTIFICIAL INTELLIGENCE, TKMCE</a:t>
            </a:r>
            <a:endParaRPr sz="1200" dirty="0">
              <a:latin typeface="Times New Roman"/>
              <a:ea typeface="Times New Roman"/>
              <a:cs typeface="Times New Roman"/>
              <a:sym typeface="Times New Roman"/>
            </a:endParaRPr>
          </a:p>
        </p:txBody>
      </p:sp>
      <p:sp>
        <p:nvSpPr>
          <p:cNvPr id="11" name="Google Shape;172;p27">
            <a:extLst>
              <a:ext uri="{FF2B5EF4-FFF2-40B4-BE49-F238E27FC236}">
                <a16:creationId xmlns:a16="http://schemas.microsoft.com/office/drawing/2014/main" id="{41DE026E-0982-75A0-7079-3346DAEC92E1}"/>
              </a:ext>
            </a:extLst>
          </p:cNvPr>
          <p:cNvSpPr txBox="1">
            <a:spLocks noGrp="1"/>
          </p:cNvSpPr>
          <p:nvPr>
            <p:ph type="sldNum" idx="12"/>
          </p:nvPr>
        </p:nvSpPr>
        <p:spPr>
          <a:xfrm>
            <a:off x="9900460" y="6459786"/>
            <a:ext cx="1312025" cy="365125"/>
          </a:xfrm>
          <a:prstGeom prst="rect">
            <a:avLst/>
          </a:prstGeom>
          <a:noFill/>
          <a:ln>
            <a:noFill/>
          </a:ln>
        </p:spPr>
        <p:txBody>
          <a:bodyPr spcFirstLastPara="1" wrap="square" lIns="91433" tIns="45700" rIns="91433" bIns="45700" anchor="ctr" anchorCtr="0">
            <a:noAutofit/>
          </a:bodyPr>
          <a:lstStyle/>
          <a:p>
            <a:fld id="{00000000-1234-1234-1234-123412341234}" type="slidenum">
              <a:rPr lang="en-GB" sz="1067"/>
              <a:pPr/>
              <a:t>18</a:t>
            </a:fld>
            <a:endParaRPr sz="1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35991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61BA2-5AB8-104D-9BF6-E7759F4A8DA0}"/>
              </a:ext>
            </a:extLst>
          </p:cNvPr>
          <p:cNvSpPr>
            <a:spLocks noGrp="1"/>
          </p:cNvSpPr>
          <p:nvPr>
            <p:ph type="title"/>
          </p:nvPr>
        </p:nvSpPr>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7094159-521F-9B8E-AFB9-8D06910B1119}"/>
              </a:ext>
            </a:extLst>
          </p:cNvPr>
          <p:cNvSpPr>
            <a:spLocks noGrp="1"/>
          </p:cNvSpPr>
          <p:nvPr>
            <p:ph type="body" idx="1"/>
          </p:nvPr>
        </p:nvSpPr>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Transformer uses multiple attention heads and a feed-forward network to enrich feature representations and improve long-term memory.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fully connected Linear layer reduces the feature dimension to the number of emotion classes, followed by a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layer for final probability-based classification.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Dropout is applied after the LSTM, Transformer Encoder, and Linear layer to prevent overfitting during training.</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activation function is used to generate probabilities for each emotion class (e.g., happy, angry, sad, neutral).</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emotion with the highest probability is selected as the final prediction.</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C5E0042-F598-B3AF-053E-CC698806DA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250103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AEF4-92B1-B940-02FF-C71EA72E083C}"/>
              </a:ext>
            </a:extLst>
          </p:cNvPr>
          <p:cNvSpPr>
            <a:spLocks noGrp="1"/>
          </p:cNvSpPr>
          <p:nvPr>
            <p:ph type="title"/>
          </p:nvPr>
        </p:nvSpPr>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A245C70-32A0-F889-57BB-497B6F270CD8}"/>
              </a:ext>
            </a:extLst>
          </p:cNvPr>
          <p:cNvSpPr>
            <a:spLocks noGrp="1"/>
          </p:cNvSpPr>
          <p:nvPr>
            <p:ph type="body" idx="1"/>
          </p:nvPr>
        </p:nvSpPr>
        <p:spPr/>
        <p:txBody>
          <a:bodyPr/>
          <a:lstStyle/>
          <a:p>
            <a:r>
              <a:rPr lang="en-US" b="1" u="sng" dirty="0">
                <a:latin typeface="Times New Roman" panose="02020603050405020304" pitchFamily="18" charset="0"/>
                <a:cs typeface="Times New Roman" panose="02020603050405020304" pitchFamily="18" charset="0"/>
              </a:rPr>
              <a:t>Limitations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study focuses only on MFCCs and does not explore combining other feature types (like </a:t>
            </a:r>
            <a:r>
              <a:rPr lang="en-US" dirty="0" err="1">
                <a:latin typeface="Times New Roman" panose="02020603050405020304" pitchFamily="18" charset="0"/>
                <a:cs typeface="Times New Roman" panose="02020603050405020304" pitchFamily="18" charset="0"/>
              </a:rPr>
              <a:t>spectrograms,chroma</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tonnetz</a:t>
            </a:r>
            <a:r>
              <a:rPr lang="en-US" dirty="0">
                <a:latin typeface="Times New Roman" panose="02020603050405020304" pitchFamily="18" charset="0"/>
                <a:cs typeface="Times New Roman" panose="02020603050405020304" pitchFamily="18" charset="0"/>
              </a:rPr>
              <a:t> feature inputs).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Although LSTM captures sequence order, very long-term dependencies can still be challenging when speech is extremely long.</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Computational complexity increases due to combining LSTM and Transformer, making the model heavier and slower compared to simpler architectures.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No use of data augmentation techniques (like noise injection, pitch shifting), which could have made the model more robust to real-world noisy conditions.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00D474E-2377-C1B1-BD1F-6ACFDD949A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495909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D181D-C682-744D-CF66-60A25F1B0392}"/>
              </a:ext>
            </a:extLst>
          </p:cNvPr>
          <p:cNvSpPr>
            <a:spLocks noGrp="1"/>
          </p:cNvSpPr>
          <p:nvPr>
            <p:ph type="title"/>
          </p:nvPr>
        </p:nvSpPr>
        <p:spPr/>
        <p:txBody>
          <a:bodyPr/>
          <a:lstStyle/>
          <a:p>
            <a:r>
              <a:rPr lang="en-US" b="1" u="sng" dirty="0">
                <a:solidFill>
                  <a:schemeClr val="accent2"/>
                </a:solidFill>
                <a:latin typeface="Times New Roman" panose="02020603050405020304" pitchFamily="18" charset="0"/>
                <a:cs typeface="Times New Roman" panose="02020603050405020304" pitchFamily="18" charset="0"/>
              </a:rPr>
              <a:t>Research Gaps Identified</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0790171-7B91-CE48-D395-01D0CB5B3E30}"/>
              </a:ext>
            </a:extLst>
          </p:cNvPr>
          <p:cNvSpPr>
            <a:spLocks noGrp="1"/>
          </p:cNvSpPr>
          <p:nvPr>
            <p:ph type="body" idx="1"/>
          </p:nvPr>
        </p:nvSpPr>
        <p:spPr>
          <a:xfrm>
            <a:off x="1097280" y="1845734"/>
            <a:ext cx="10058400" cy="4453466"/>
          </a:xfrm>
        </p:spPr>
        <p:txBody>
          <a:bodyPr>
            <a:normAutofit lnSpcReduction="10000"/>
          </a:bodyPr>
          <a:lstStyle/>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Multilingual and Cross-Domain Evaluation is Rare.</a:t>
            </a:r>
          </a:p>
          <a:p>
            <a:pPr algn="just"/>
            <a:r>
              <a:rPr lang="en-US" dirty="0">
                <a:latin typeface="Times New Roman" panose="02020603050405020304" pitchFamily="18" charset="0"/>
                <a:cs typeface="Times New Roman" panose="02020603050405020304" pitchFamily="18" charset="0"/>
              </a:rPr>
              <a:t>Most studies train and evaluate models on single-language datasets, limiting their applicability across languages, accents, and cultural contexts.</a:t>
            </a:r>
          </a:p>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Limited Real-Time and Lightweight Deployable Models.</a:t>
            </a:r>
          </a:p>
          <a:p>
            <a:pPr algn="just"/>
            <a:r>
              <a:rPr lang="en-US" dirty="0">
                <a:latin typeface="Times New Roman" panose="02020603050405020304" pitchFamily="18" charset="0"/>
                <a:cs typeface="Times New Roman" panose="02020603050405020304" pitchFamily="18" charset="0"/>
              </a:rPr>
              <a:t>Many models (e.g., 3D CNNs,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with clustering) are computationally heavy and not optimized for low-resource devices or real-time processing.</a:t>
            </a:r>
          </a:p>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Insufficient Use of Pretrained Audio-Language Models (e.g., wav2vec, </a:t>
            </a:r>
            <a:r>
              <a:rPr lang="en-US" b="1" dirty="0" err="1">
                <a:latin typeface="Times New Roman" panose="02020603050405020304" pitchFamily="18" charset="0"/>
                <a:cs typeface="Times New Roman" panose="02020603050405020304" pitchFamily="18" charset="0"/>
              </a:rPr>
              <a:t>HuBERT</a:t>
            </a:r>
            <a:r>
              <a:rPr lang="en-US" b="1"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Despite their success in ASR and speaker recognition, these models are underutilized in SER, especially for low-resource or small-sample scenarios.</a:t>
            </a:r>
          </a:p>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Emotion Overlap Remains a Challenge.</a:t>
            </a:r>
          </a:p>
          <a:p>
            <a:pPr algn="just"/>
            <a:r>
              <a:rPr lang="en-US" dirty="0">
                <a:latin typeface="Times New Roman" panose="02020603050405020304" pitchFamily="18" charset="0"/>
                <a:cs typeface="Times New Roman" panose="02020603050405020304" pitchFamily="18" charset="0"/>
              </a:rPr>
              <a:t>Emotions with similar acoustic patterns (e.g., happy vs. neutral, fear vs. surprise) are frequently misclassified, indicating the need for more fine-grained feature learning.</a:t>
            </a:r>
          </a:p>
        </p:txBody>
      </p:sp>
      <p:sp>
        <p:nvSpPr>
          <p:cNvPr id="4" name="Slide Number Placeholder 3">
            <a:extLst>
              <a:ext uri="{FF2B5EF4-FFF2-40B4-BE49-F238E27FC236}">
                <a16:creationId xmlns:a16="http://schemas.microsoft.com/office/drawing/2014/main" id="{9059D9C6-E893-B42E-20A9-EA6EA1DD07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1095256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8DBF2-70C0-92CB-32CB-FB4BB2A40E2E}"/>
              </a:ext>
            </a:extLst>
          </p:cNvPr>
          <p:cNvSpPr>
            <a:spLocks noGrp="1"/>
          </p:cNvSpPr>
          <p:nvPr>
            <p:ph type="title"/>
          </p:nvPr>
        </p:nvSpPr>
        <p:spPr/>
        <p:txBody>
          <a:bodyPr/>
          <a:lstStyle/>
          <a:p>
            <a:r>
              <a:rPr lang="en-US" b="1" u="sng" dirty="0">
                <a:solidFill>
                  <a:schemeClr val="accent2"/>
                </a:solidFill>
                <a:latin typeface="Times New Roman" panose="02020603050405020304" pitchFamily="18" charset="0"/>
                <a:cs typeface="Times New Roman" panose="02020603050405020304" pitchFamily="18" charset="0"/>
              </a:rPr>
              <a:t>Objective</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AE7C197-0179-3C44-34A5-80B1012FDFD8}"/>
              </a:ext>
            </a:extLst>
          </p:cNvPr>
          <p:cNvSpPr>
            <a:spLocks noGrp="1"/>
          </p:cNvSpPr>
          <p:nvPr>
            <p:ph type="body" idx="1"/>
          </p:nvPr>
        </p:nvSpPr>
        <p:spPr>
          <a:xfrm>
            <a:off x="1097280" y="1845734"/>
            <a:ext cx="10058400" cy="4331782"/>
          </a:xfrm>
        </p:spPr>
        <p:txBody>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preprocess speech signals by extracting MFCC, </a:t>
            </a:r>
            <a:r>
              <a:rPr lang="en-US" dirty="0" err="1">
                <a:latin typeface="Times New Roman" panose="02020603050405020304" pitchFamily="18" charset="0"/>
                <a:cs typeface="Times New Roman" panose="02020603050405020304" pitchFamily="18" charset="0"/>
              </a:rPr>
              <a:t>Tonnetz</a:t>
            </a:r>
            <a:r>
              <a:rPr lang="en-US" dirty="0">
                <a:latin typeface="Times New Roman" panose="02020603050405020304" pitchFamily="18" charset="0"/>
                <a:cs typeface="Times New Roman" panose="02020603050405020304" pitchFamily="18" charset="0"/>
              </a:rPr>
              <a:t>, Chroma, and Mel spectrogram features and fuse them into a combined representation for model training.</a:t>
            </a:r>
          </a:p>
          <a:p>
            <a:pPr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design and implement a deep learning model (Transformer) to extract temporal features for speech emotion recognition that classifies emotions from audio signals.</a:t>
            </a: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004D54C-525D-521D-3070-4CA4527FEF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2180185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8"/>
          <p:cNvSpPr txBox="1">
            <a:spLocks noGrp="1"/>
          </p:cNvSpPr>
          <p:nvPr>
            <p:ph type="title"/>
          </p:nvPr>
        </p:nvSpPr>
        <p:spPr>
          <a:xfrm>
            <a:off x="1128345" y="3458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0070C0"/>
              </a:buClr>
              <a:buSzPts val="4800"/>
              <a:buFont typeface="Times New Roman"/>
              <a:buNone/>
            </a:pPr>
            <a:r>
              <a:rPr lang="en-US" b="1" u="sng" dirty="0">
                <a:solidFill>
                  <a:srgbClr val="0070C0"/>
                </a:solidFill>
                <a:latin typeface="Times New Roman"/>
                <a:cs typeface="Times New Roman"/>
                <a:sym typeface="Times New Roman"/>
              </a:rPr>
              <a:t>Methodology</a:t>
            </a:r>
            <a:endParaRPr b="1" u="sng" dirty="0"/>
          </a:p>
        </p:txBody>
      </p:sp>
      <p:sp>
        <p:nvSpPr>
          <p:cNvPr id="477" name="Google Shape;477;p5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CENTRE FOR ARTIFICIAL INTELLIGENCE, TKMCE</a:t>
            </a:r>
            <a:endParaRPr/>
          </a:p>
        </p:txBody>
      </p:sp>
      <p:sp>
        <p:nvSpPr>
          <p:cNvPr id="478" name="Google Shape;478;p5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480" name="Google Shape;480;p58"/>
          <p:cNvSpPr/>
          <p:nvPr/>
        </p:nvSpPr>
        <p:spPr>
          <a:xfrm>
            <a:off x="531234" y="2038421"/>
            <a:ext cx="1194221" cy="513663"/>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SPEECH INPUT</a:t>
            </a:r>
            <a:endParaRPr b="1" dirty="0">
              <a:latin typeface="Times New Roman" panose="02020603050405020304" pitchFamily="18" charset="0"/>
              <a:ea typeface="Calibri"/>
              <a:cs typeface="Times New Roman" panose="02020603050405020304" pitchFamily="18" charset="0"/>
              <a:sym typeface="Calibri"/>
            </a:endParaRPr>
          </a:p>
        </p:txBody>
      </p:sp>
      <p:sp>
        <p:nvSpPr>
          <p:cNvPr id="483" name="Google Shape;483;p58"/>
          <p:cNvSpPr/>
          <p:nvPr/>
        </p:nvSpPr>
        <p:spPr>
          <a:xfrm>
            <a:off x="6022946" y="4277321"/>
            <a:ext cx="1790134" cy="469921"/>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DEEP LEARNING MODEL</a:t>
            </a:r>
            <a:endParaRPr b="1" dirty="0">
              <a:latin typeface="Times New Roman" panose="02020603050405020304" pitchFamily="18" charset="0"/>
              <a:ea typeface="Calibri"/>
              <a:cs typeface="Times New Roman" panose="02020603050405020304" pitchFamily="18" charset="0"/>
              <a:sym typeface="Calibri"/>
            </a:endParaRPr>
          </a:p>
        </p:txBody>
      </p:sp>
      <p:sp>
        <p:nvSpPr>
          <p:cNvPr id="491" name="Google Shape;491;p58"/>
          <p:cNvSpPr txBox="1"/>
          <p:nvPr/>
        </p:nvSpPr>
        <p:spPr>
          <a:xfrm>
            <a:off x="6475696" y="3796006"/>
            <a:ext cx="709500" cy="22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rgbClr val="3F3F3F"/>
              </a:solidFill>
              <a:latin typeface="Calibri"/>
              <a:ea typeface="Calibri"/>
              <a:cs typeface="Calibri"/>
              <a:sym typeface="Calibri"/>
            </a:endParaRPr>
          </a:p>
        </p:txBody>
      </p:sp>
      <p:sp>
        <p:nvSpPr>
          <p:cNvPr id="492" name="Google Shape;492;p58"/>
          <p:cNvSpPr/>
          <p:nvPr/>
        </p:nvSpPr>
        <p:spPr>
          <a:xfrm>
            <a:off x="8576459" y="3291909"/>
            <a:ext cx="1779847" cy="556386"/>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EMOTION CLASSIFICATION</a:t>
            </a:r>
            <a:endParaRPr b="1" dirty="0">
              <a:latin typeface="Times New Roman" panose="02020603050405020304" pitchFamily="18" charset="0"/>
              <a:ea typeface="Calibri"/>
              <a:cs typeface="Times New Roman" panose="02020603050405020304" pitchFamily="18" charset="0"/>
              <a:sym typeface="Calibri"/>
            </a:endParaRPr>
          </a:p>
        </p:txBody>
      </p:sp>
      <p:sp>
        <p:nvSpPr>
          <p:cNvPr id="8" name="Google Shape;483;p58">
            <a:extLst>
              <a:ext uri="{FF2B5EF4-FFF2-40B4-BE49-F238E27FC236}">
                <a16:creationId xmlns:a16="http://schemas.microsoft.com/office/drawing/2014/main" id="{AF9D804C-D8C9-A47C-A388-C20DBC0D3012}"/>
              </a:ext>
            </a:extLst>
          </p:cNvPr>
          <p:cNvSpPr/>
          <p:nvPr/>
        </p:nvSpPr>
        <p:spPr>
          <a:xfrm>
            <a:off x="345247" y="2947249"/>
            <a:ext cx="1694937" cy="778911"/>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DATA PRE-PROCESSING</a:t>
            </a:r>
          </a:p>
        </p:txBody>
      </p:sp>
      <p:sp>
        <p:nvSpPr>
          <p:cNvPr id="3" name="Arrow: Down 2">
            <a:extLst>
              <a:ext uri="{FF2B5EF4-FFF2-40B4-BE49-F238E27FC236}">
                <a16:creationId xmlns:a16="http://schemas.microsoft.com/office/drawing/2014/main" id="{047C2601-EDD5-B55C-887D-02E7AD0C44FB}"/>
              </a:ext>
            </a:extLst>
          </p:cNvPr>
          <p:cNvSpPr/>
          <p:nvPr/>
        </p:nvSpPr>
        <p:spPr>
          <a:xfrm>
            <a:off x="1084650" y="2646953"/>
            <a:ext cx="108066" cy="242614"/>
          </a:xfrm>
          <a:prstGeom prst="down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Google Shape;492;p58">
            <a:extLst>
              <a:ext uri="{FF2B5EF4-FFF2-40B4-BE49-F238E27FC236}">
                <a16:creationId xmlns:a16="http://schemas.microsoft.com/office/drawing/2014/main" id="{E3A9E6D5-8175-5B86-EFC3-7F37FBF0393D}"/>
              </a:ext>
            </a:extLst>
          </p:cNvPr>
          <p:cNvSpPr/>
          <p:nvPr/>
        </p:nvSpPr>
        <p:spPr>
          <a:xfrm>
            <a:off x="2465213" y="3019413"/>
            <a:ext cx="1806493" cy="684944"/>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FEATURE EXTRACTION</a:t>
            </a:r>
            <a:endParaRPr b="1" dirty="0">
              <a:latin typeface="Times New Roman" panose="02020603050405020304" pitchFamily="18" charset="0"/>
              <a:ea typeface="Calibri"/>
              <a:cs typeface="Times New Roman" panose="02020603050405020304" pitchFamily="18" charset="0"/>
              <a:sym typeface="Calibri"/>
            </a:endParaRPr>
          </a:p>
        </p:txBody>
      </p:sp>
      <p:sp>
        <p:nvSpPr>
          <p:cNvPr id="14" name="Google Shape;483;p58">
            <a:extLst>
              <a:ext uri="{FF2B5EF4-FFF2-40B4-BE49-F238E27FC236}">
                <a16:creationId xmlns:a16="http://schemas.microsoft.com/office/drawing/2014/main" id="{A105D5E4-EF55-C3FB-82B5-9B058D3D689E}"/>
              </a:ext>
            </a:extLst>
          </p:cNvPr>
          <p:cNvSpPr/>
          <p:nvPr/>
        </p:nvSpPr>
        <p:spPr>
          <a:xfrm>
            <a:off x="5380152" y="2558247"/>
            <a:ext cx="1790134" cy="749176"/>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TRAIN-VALIDATION SPLIIT</a:t>
            </a:r>
            <a:endParaRPr b="1" dirty="0">
              <a:latin typeface="Times New Roman" panose="02020603050405020304" pitchFamily="18" charset="0"/>
              <a:ea typeface="Calibri"/>
              <a:cs typeface="Times New Roman" panose="02020603050405020304" pitchFamily="18" charset="0"/>
              <a:sym typeface="Calibri"/>
            </a:endParaRPr>
          </a:p>
        </p:txBody>
      </p:sp>
      <p:sp>
        <p:nvSpPr>
          <p:cNvPr id="18" name="Google Shape;483;p58">
            <a:extLst>
              <a:ext uri="{FF2B5EF4-FFF2-40B4-BE49-F238E27FC236}">
                <a16:creationId xmlns:a16="http://schemas.microsoft.com/office/drawing/2014/main" id="{047C42E8-AD12-3FFC-D7B0-F86A149052F4}"/>
              </a:ext>
            </a:extLst>
          </p:cNvPr>
          <p:cNvSpPr/>
          <p:nvPr/>
        </p:nvSpPr>
        <p:spPr>
          <a:xfrm>
            <a:off x="10674217" y="3008343"/>
            <a:ext cx="1677058" cy="886903"/>
          </a:xfrm>
          <a:prstGeom prst="roundRect">
            <a:avLst>
              <a:gd name="adj"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panose="02020603050405020304" pitchFamily="18" charset="0"/>
                <a:ea typeface="Calibri"/>
                <a:cs typeface="Times New Roman" panose="02020603050405020304" pitchFamily="18" charset="0"/>
                <a:sym typeface="Calibri"/>
              </a:rPr>
              <a:t>PERFORMANCE EVALUATION</a:t>
            </a:r>
          </a:p>
        </p:txBody>
      </p:sp>
      <p:sp>
        <p:nvSpPr>
          <p:cNvPr id="27" name="Arrow: Down 26">
            <a:extLst>
              <a:ext uri="{FF2B5EF4-FFF2-40B4-BE49-F238E27FC236}">
                <a16:creationId xmlns:a16="http://schemas.microsoft.com/office/drawing/2014/main" id="{D36A1882-9D04-A4C5-E1D0-2A804FBD90AE}"/>
              </a:ext>
            </a:extLst>
          </p:cNvPr>
          <p:cNvSpPr/>
          <p:nvPr/>
        </p:nvSpPr>
        <p:spPr>
          <a:xfrm rot="16200000">
            <a:off x="2198665" y="3240578"/>
            <a:ext cx="108066" cy="242614"/>
          </a:xfrm>
          <a:prstGeom prst="down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Google Shape;492;p58">
            <a:extLst>
              <a:ext uri="{FF2B5EF4-FFF2-40B4-BE49-F238E27FC236}">
                <a16:creationId xmlns:a16="http://schemas.microsoft.com/office/drawing/2014/main" id="{776EC72F-C3BC-40DE-18C6-1232C7E2E751}"/>
              </a:ext>
            </a:extLst>
          </p:cNvPr>
          <p:cNvSpPr/>
          <p:nvPr/>
        </p:nvSpPr>
        <p:spPr>
          <a:xfrm>
            <a:off x="2066556" y="4097792"/>
            <a:ext cx="2660816" cy="895589"/>
          </a:xfrm>
          <a:prstGeom prst="roundRect">
            <a:avLst>
              <a:gd name="adj" fmla="val 16667"/>
            </a:avLst>
          </a:prstGeom>
          <a:solidFill>
            <a:schemeClr val="bg1"/>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380990" indent="-380990" algn="just">
              <a:buFont typeface="Arial" panose="020B0604020202020204" pitchFamily="34" charset="0"/>
              <a:buChar char="•"/>
            </a:pPr>
            <a:r>
              <a:rPr lang="en-US" sz="1200" dirty="0">
                <a:solidFill>
                  <a:schemeClr val="dk1"/>
                </a:solidFill>
                <a:latin typeface="Times New Roman" panose="02020603050405020304" pitchFamily="18" charset="0"/>
                <a:ea typeface="Calibri"/>
                <a:cs typeface="Times New Roman" panose="02020603050405020304" pitchFamily="18" charset="0"/>
                <a:sym typeface="Calibri"/>
              </a:rPr>
              <a:t>MFCC</a:t>
            </a:r>
          </a:p>
          <a:p>
            <a:pPr marL="380990" indent="-380990" algn="just">
              <a:buFont typeface="Arial" panose="020B0604020202020204" pitchFamily="34" charset="0"/>
              <a:buChar char="•"/>
            </a:pPr>
            <a:r>
              <a:rPr lang="en-US" sz="1200" dirty="0">
                <a:solidFill>
                  <a:schemeClr val="dk1"/>
                </a:solidFill>
                <a:latin typeface="Times New Roman" panose="02020603050405020304" pitchFamily="18" charset="0"/>
                <a:ea typeface="Calibri"/>
                <a:cs typeface="Times New Roman" panose="02020603050405020304" pitchFamily="18" charset="0"/>
                <a:sym typeface="Calibri"/>
              </a:rPr>
              <a:t>Chroma</a:t>
            </a:r>
          </a:p>
          <a:p>
            <a:pPr marL="380990" indent="-380990" algn="just">
              <a:buFont typeface="Arial" panose="020B0604020202020204" pitchFamily="34" charset="0"/>
              <a:buChar char="•"/>
            </a:pPr>
            <a:r>
              <a:rPr lang="en-US" sz="1200" dirty="0" err="1">
                <a:solidFill>
                  <a:schemeClr val="dk1"/>
                </a:solidFill>
                <a:latin typeface="Times New Roman" panose="02020603050405020304" pitchFamily="18" charset="0"/>
                <a:ea typeface="Calibri"/>
                <a:cs typeface="Times New Roman" panose="02020603050405020304" pitchFamily="18" charset="0"/>
                <a:sym typeface="Calibri"/>
              </a:rPr>
              <a:t>Tonnetz</a:t>
            </a:r>
            <a:endParaRPr lang="en-US" sz="1200" dirty="0">
              <a:solidFill>
                <a:schemeClr val="dk1"/>
              </a:solidFill>
              <a:latin typeface="Times New Roman" panose="02020603050405020304" pitchFamily="18" charset="0"/>
              <a:ea typeface="Calibri"/>
              <a:cs typeface="Times New Roman" panose="02020603050405020304" pitchFamily="18" charset="0"/>
              <a:sym typeface="Calibri"/>
            </a:endParaRPr>
          </a:p>
          <a:p>
            <a:pPr marL="380990" indent="-380990" algn="just">
              <a:buFont typeface="Arial" panose="020B0604020202020204" pitchFamily="34" charset="0"/>
              <a:buChar char="•"/>
            </a:pPr>
            <a:r>
              <a:rPr lang="en-US" sz="1200" dirty="0">
                <a:solidFill>
                  <a:schemeClr val="dk1"/>
                </a:solidFill>
                <a:latin typeface="Times New Roman" panose="02020603050405020304" pitchFamily="18" charset="0"/>
                <a:ea typeface="Calibri"/>
                <a:cs typeface="Times New Roman" panose="02020603050405020304" pitchFamily="18" charset="0"/>
                <a:sym typeface="Calibri"/>
              </a:rPr>
              <a:t>Mel spectrogram</a:t>
            </a:r>
          </a:p>
          <a:p>
            <a:pPr lvl="0" algn="ctr" rtl="0">
              <a:spcBef>
                <a:spcPts val="0"/>
              </a:spcBef>
              <a:spcAft>
                <a:spcPts val="0"/>
              </a:spcAft>
            </a:pPr>
            <a:endParaRPr lang="en-US" sz="1200" dirty="0">
              <a:latin typeface="Times New Roman" panose="02020603050405020304" pitchFamily="18" charset="0"/>
              <a:ea typeface="Calibri"/>
              <a:cs typeface="Times New Roman" panose="02020603050405020304" pitchFamily="18" charset="0"/>
              <a:sym typeface="Calibri"/>
            </a:endParaRPr>
          </a:p>
        </p:txBody>
      </p:sp>
      <p:sp>
        <p:nvSpPr>
          <p:cNvPr id="32" name="Google Shape;492;p58">
            <a:extLst>
              <a:ext uri="{FF2B5EF4-FFF2-40B4-BE49-F238E27FC236}">
                <a16:creationId xmlns:a16="http://schemas.microsoft.com/office/drawing/2014/main" id="{EB1824FB-2AF1-0936-69F3-1B2A2F81CFBA}"/>
              </a:ext>
            </a:extLst>
          </p:cNvPr>
          <p:cNvSpPr/>
          <p:nvPr/>
        </p:nvSpPr>
        <p:spPr>
          <a:xfrm>
            <a:off x="6562386" y="4993381"/>
            <a:ext cx="1863188" cy="412745"/>
          </a:xfrm>
          <a:prstGeom prst="roundRect">
            <a:avLst>
              <a:gd name="adj" fmla="val 16667"/>
            </a:avLst>
          </a:prstGeom>
          <a:solidFill>
            <a:schemeClr val="bg1"/>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lvl="0" algn="ctr" rtl="0">
              <a:spcBef>
                <a:spcPts val="0"/>
              </a:spcBef>
              <a:spcAft>
                <a:spcPts val="0"/>
              </a:spcAft>
            </a:pPr>
            <a:r>
              <a:rPr lang="en-US" sz="1200" dirty="0">
                <a:latin typeface="Times New Roman" panose="02020603050405020304" pitchFamily="18" charset="0"/>
                <a:ea typeface="Calibri"/>
                <a:cs typeface="Times New Roman" panose="02020603050405020304" pitchFamily="18" charset="0"/>
                <a:sym typeface="Calibri"/>
              </a:rPr>
              <a:t>TRANSFORMER</a:t>
            </a:r>
          </a:p>
        </p:txBody>
      </p:sp>
      <p:sp>
        <p:nvSpPr>
          <p:cNvPr id="36" name="Google Shape;492;p58">
            <a:extLst>
              <a:ext uri="{FF2B5EF4-FFF2-40B4-BE49-F238E27FC236}">
                <a16:creationId xmlns:a16="http://schemas.microsoft.com/office/drawing/2014/main" id="{4F35E5E7-666B-9EB6-6531-A3DDDB667F3E}"/>
              </a:ext>
            </a:extLst>
          </p:cNvPr>
          <p:cNvSpPr/>
          <p:nvPr/>
        </p:nvSpPr>
        <p:spPr>
          <a:xfrm>
            <a:off x="345247" y="4124368"/>
            <a:ext cx="1548376" cy="851175"/>
          </a:xfrm>
          <a:prstGeom prst="roundRect">
            <a:avLst>
              <a:gd name="adj" fmla="val 16667"/>
            </a:avLst>
          </a:prstGeom>
          <a:solidFill>
            <a:schemeClr val="bg1"/>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380990" indent="-380990" algn="just">
              <a:buFont typeface="Arial" panose="020B0604020202020204" pitchFamily="34" charset="0"/>
              <a:buChar char="•"/>
            </a:pPr>
            <a:r>
              <a:rPr lang="en-GB" sz="1200" dirty="0">
                <a:solidFill>
                  <a:schemeClr val="dk1"/>
                </a:solidFill>
                <a:latin typeface="Times New Roman" panose="02020603050405020304" pitchFamily="18" charset="0"/>
                <a:ea typeface="Calibri"/>
                <a:cs typeface="Times New Roman" panose="02020603050405020304" pitchFamily="18" charset="0"/>
                <a:sym typeface="Calibri"/>
              </a:rPr>
              <a:t>Adding Noise</a:t>
            </a:r>
          </a:p>
          <a:p>
            <a:pPr marL="380990" indent="-380990" algn="just">
              <a:buFont typeface="Arial" panose="020B0604020202020204" pitchFamily="34" charset="0"/>
              <a:buChar char="•"/>
            </a:pPr>
            <a:r>
              <a:rPr lang="en-GB" sz="1200" dirty="0" err="1">
                <a:solidFill>
                  <a:schemeClr val="dk1"/>
                </a:solidFill>
                <a:latin typeface="Times New Roman" panose="02020603050405020304" pitchFamily="18" charset="0"/>
                <a:ea typeface="Calibri"/>
                <a:cs typeface="Times New Roman" panose="02020603050405020304" pitchFamily="18" charset="0"/>
                <a:sym typeface="Calibri"/>
              </a:rPr>
              <a:t>Streching</a:t>
            </a:r>
            <a:endParaRPr lang="en-GB" sz="1200" dirty="0">
              <a:solidFill>
                <a:schemeClr val="dk1"/>
              </a:solidFill>
              <a:latin typeface="Times New Roman" panose="02020603050405020304" pitchFamily="18" charset="0"/>
              <a:ea typeface="Calibri"/>
              <a:cs typeface="Times New Roman" panose="02020603050405020304" pitchFamily="18" charset="0"/>
              <a:sym typeface="Calibri"/>
            </a:endParaRPr>
          </a:p>
          <a:p>
            <a:pPr marL="380990" indent="-380990" algn="just">
              <a:buFont typeface="Arial" panose="020B0604020202020204" pitchFamily="34" charset="0"/>
              <a:buChar char="•"/>
            </a:pPr>
            <a:r>
              <a:rPr lang="en-GB" sz="1200" dirty="0">
                <a:solidFill>
                  <a:schemeClr val="dk1"/>
                </a:solidFill>
                <a:latin typeface="Times New Roman" panose="02020603050405020304" pitchFamily="18" charset="0"/>
                <a:ea typeface="Calibri"/>
                <a:cs typeface="Times New Roman" panose="02020603050405020304" pitchFamily="18" charset="0"/>
                <a:sym typeface="Calibri"/>
              </a:rPr>
              <a:t>Shifting</a:t>
            </a:r>
          </a:p>
          <a:p>
            <a:pPr lvl="0" algn="ctr" rtl="0">
              <a:spcBef>
                <a:spcPts val="0"/>
              </a:spcBef>
              <a:spcAft>
                <a:spcPts val="0"/>
              </a:spcAft>
            </a:pPr>
            <a:endParaRPr lang="en-US" sz="1200" dirty="0">
              <a:latin typeface="Times New Roman" panose="02020603050405020304" pitchFamily="18" charset="0"/>
              <a:ea typeface="Calibri"/>
              <a:cs typeface="Times New Roman" panose="02020603050405020304" pitchFamily="18" charset="0"/>
              <a:sym typeface="Calibri"/>
            </a:endParaRPr>
          </a:p>
        </p:txBody>
      </p:sp>
      <p:cxnSp>
        <p:nvCxnSpPr>
          <p:cNvPr id="4" name="Straight Connector 3">
            <a:extLst>
              <a:ext uri="{FF2B5EF4-FFF2-40B4-BE49-F238E27FC236}">
                <a16:creationId xmlns:a16="http://schemas.microsoft.com/office/drawing/2014/main" id="{40A94F31-EE14-5DAE-4650-E2584DD65171}"/>
              </a:ext>
            </a:extLst>
          </p:cNvPr>
          <p:cNvCxnSpPr>
            <a:cxnSpLocks/>
            <a:stCxn id="12" idx="2"/>
          </p:cNvCxnSpPr>
          <p:nvPr/>
        </p:nvCxnSpPr>
        <p:spPr>
          <a:xfrm>
            <a:off x="3368460" y="3704357"/>
            <a:ext cx="1804" cy="381778"/>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
        <p:nvSpPr>
          <p:cNvPr id="20" name="Arrow: Bent-Up 19">
            <a:extLst>
              <a:ext uri="{FF2B5EF4-FFF2-40B4-BE49-F238E27FC236}">
                <a16:creationId xmlns:a16="http://schemas.microsoft.com/office/drawing/2014/main" id="{8DC4017A-8E95-3D83-7D52-856A8F715BE1}"/>
              </a:ext>
            </a:extLst>
          </p:cNvPr>
          <p:cNvSpPr/>
          <p:nvPr/>
        </p:nvSpPr>
        <p:spPr>
          <a:xfrm rot="16200000" flipV="1">
            <a:off x="4850193" y="2957365"/>
            <a:ext cx="738097" cy="269038"/>
          </a:xfrm>
          <a:prstGeom prst="bentUpArrow">
            <a:avLst>
              <a:gd name="adj1" fmla="val 22560"/>
              <a:gd name="adj2" fmla="val 25000"/>
              <a:gd name="adj3" fmla="val 32651"/>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Minus Sign 20">
            <a:extLst>
              <a:ext uri="{FF2B5EF4-FFF2-40B4-BE49-F238E27FC236}">
                <a16:creationId xmlns:a16="http://schemas.microsoft.com/office/drawing/2014/main" id="{1E751D12-B0B7-2AFF-91BF-0AEFD9598497}"/>
              </a:ext>
            </a:extLst>
          </p:cNvPr>
          <p:cNvSpPr/>
          <p:nvPr/>
        </p:nvSpPr>
        <p:spPr>
          <a:xfrm>
            <a:off x="4263125" y="3291909"/>
            <a:ext cx="928493" cy="266976"/>
          </a:xfrm>
          <a:prstGeom prst="mathMinus">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Bent-Up 21">
            <a:extLst>
              <a:ext uri="{FF2B5EF4-FFF2-40B4-BE49-F238E27FC236}">
                <a16:creationId xmlns:a16="http://schemas.microsoft.com/office/drawing/2014/main" id="{121F6DF0-A443-8423-1152-A2B79D6C3B8B}"/>
              </a:ext>
            </a:extLst>
          </p:cNvPr>
          <p:cNvSpPr/>
          <p:nvPr/>
        </p:nvSpPr>
        <p:spPr>
          <a:xfrm rot="5400000">
            <a:off x="5203951" y="3827817"/>
            <a:ext cx="1254751" cy="230045"/>
          </a:xfrm>
          <a:prstGeom prst="bentUpArrow">
            <a:avLst>
              <a:gd name="adj1" fmla="val 22560"/>
              <a:gd name="adj2" fmla="val 25000"/>
              <a:gd name="adj3" fmla="val 32651"/>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Connector 22">
            <a:extLst>
              <a:ext uri="{FF2B5EF4-FFF2-40B4-BE49-F238E27FC236}">
                <a16:creationId xmlns:a16="http://schemas.microsoft.com/office/drawing/2014/main" id="{19A4655E-8B38-2215-2E37-E041D5978685}"/>
              </a:ext>
            </a:extLst>
          </p:cNvPr>
          <p:cNvCxnSpPr>
            <a:cxnSpLocks/>
          </p:cNvCxnSpPr>
          <p:nvPr/>
        </p:nvCxnSpPr>
        <p:spPr>
          <a:xfrm>
            <a:off x="1126540" y="3733924"/>
            <a:ext cx="1804" cy="381778"/>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926432E-60FC-47E0-A400-257633865DBD}"/>
              </a:ext>
            </a:extLst>
          </p:cNvPr>
          <p:cNvCxnSpPr>
            <a:cxnSpLocks/>
            <a:endCxn id="32" idx="0"/>
          </p:cNvCxnSpPr>
          <p:nvPr/>
        </p:nvCxnSpPr>
        <p:spPr>
          <a:xfrm>
            <a:off x="7493980" y="4747242"/>
            <a:ext cx="0" cy="246139"/>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7AE3B71-8CD3-DBA2-3D49-ED52A1583065}"/>
              </a:ext>
            </a:extLst>
          </p:cNvPr>
          <p:cNvSpPr/>
          <p:nvPr/>
        </p:nvSpPr>
        <p:spPr>
          <a:xfrm>
            <a:off x="4970631" y="2256817"/>
            <a:ext cx="3538357" cy="3328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Down 39">
            <a:extLst>
              <a:ext uri="{FF2B5EF4-FFF2-40B4-BE49-F238E27FC236}">
                <a16:creationId xmlns:a16="http://schemas.microsoft.com/office/drawing/2014/main" id="{39313A5A-12ED-8A98-B622-176F07EAFA1C}"/>
              </a:ext>
            </a:extLst>
          </p:cNvPr>
          <p:cNvSpPr/>
          <p:nvPr/>
        </p:nvSpPr>
        <p:spPr>
          <a:xfrm rot="16200000" flipH="1">
            <a:off x="8048578" y="3276377"/>
            <a:ext cx="94490" cy="659507"/>
          </a:xfrm>
          <a:prstGeom prst="down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Google Shape;492;p58">
            <a:extLst>
              <a:ext uri="{FF2B5EF4-FFF2-40B4-BE49-F238E27FC236}">
                <a16:creationId xmlns:a16="http://schemas.microsoft.com/office/drawing/2014/main" id="{A6341373-DF80-1A21-5A55-E383C6BC73C2}"/>
              </a:ext>
            </a:extLst>
          </p:cNvPr>
          <p:cNvSpPr/>
          <p:nvPr/>
        </p:nvSpPr>
        <p:spPr>
          <a:xfrm>
            <a:off x="8726116" y="4327185"/>
            <a:ext cx="1312025" cy="1680805"/>
          </a:xfrm>
          <a:prstGeom prst="roundRect">
            <a:avLst>
              <a:gd name="adj" fmla="val 16667"/>
            </a:avLst>
          </a:prstGeom>
          <a:solidFill>
            <a:schemeClr val="bg1"/>
          </a:solid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342900" indent="-342900">
              <a:buFont typeface="Arial" panose="020B0604020202020204" pitchFamily="34" charset="0"/>
              <a:buChar char="•"/>
            </a:pPr>
            <a:r>
              <a:rPr lang="en-GB" sz="1200">
                <a:solidFill>
                  <a:schemeClr val="dk1"/>
                </a:solidFill>
                <a:latin typeface="Calibri"/>
                <a:ea typeface="Calibri"/>
                <a:cs typeface="Calibri"/>
                <a:sym typeface="Calibri"/>
              </a:rPr>
              <a:t>Happy</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Sad</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Calm</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Neutral</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Angry</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Fearful</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Disgust</a:t>
            </a:r>
          </a:p>
          <a:p>
            <a:pPr marL="342900" indent="-342900">
              <a:buFont typeface="Arial" panose="020B0604020202020204" pitchFamily="34" charset="0"/>
              <a:buChar char="•"/>
            </a:pPr>
            <a:r>
              <a:rPr lang="en-GB" sz="1200">
                <a:solidFill>
                  <a:schemeClr val="dk1"/>
                </a:solidFill>
                <a:latin typeface="Calibri"/>
                <a:ea typeface="Calibri"/>
                <a:cs typeface="Calibri"/>
                <a:sym typeface="Calibri"/>
              </a:rPr>
              <a:t>Surprised</a:t>
            </a:r>
            <a:endParaRPr lang="en-GB" sz="1200" dirty="0">
              <a:solidFill>
                <a:schemeClr val="dk1"/>
              </a:solidFill>
              <a:latin typeface="Calibri"/>
              <a:ea typeface="Calibri"/>
              <a:cs typeface="Calibri"/>
              <a:sym typeface="Calibri"/>
            </a:endParaRPr>
          </a:p>
        </p:txBody>
      </p:sp>
      <p:cxnSp>
        <p:nvCxnSpPr>
          <p:cNvPr id="46" name="Straight Connector 45">
            <a:extLst>
              <a:ext uri="{FF2B5EF4-FFF2-40B4-BE49-F238E27FC236}">
                <a16:creationId xmlns:a16="http://schemas.microsoft.com/office/drawing/2014/main" id="{50F70C19-49C0-250F-7218-3C1ECC85F382}"/>
              </a:ext>
            </a:extLst>
          </p:cNvPr>
          <p:cNvCxnSpPr>
            <a:cxnSpLocks/>
          </p:cNvCxnSpPr>
          <p:nvPr/>
        </p:nvCxnSpPr>
        <p:spPr>
          <a:xfrm>
            <a:off x="9382129" y="3917314"/>
            <a:ext cx="1804" cy="381778"/>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
        <p:nvSpPr>
          <p:cNvPr id="47" name="Arrow: Down 46">
            <a:extLst>
              <a:ext uri="{FF2B5EF4-FFF2-40B4-BE49-F238E27FC236}">
                <a16:creationId xmlns:a16="http://schemas.microsoft.com/office/drawing/2014/main" id="{353E63A1-D6F4-279E-77F3-6B163080FCF0}"/>
              </a:ext>
            </a:extLst>
          </p:cNvPr>
          <p:cNvSpPr/>
          <p:nvPr/>
        </p:nvSpPr>
        <p:spPr>
          <a:xfrm rot="16200000">
            <a:off x="10449517" y="3393155"/>
            <a:ext cx="108066" cy="242614"/>
          </a:xfrm>
          <a:prstGeom prst="down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a:extLst>
              <a:ext uri="{FF2B5EF4-FFF2-40B4-BE49-F238E27FC236}">
                <a16:creationId xmlns:a16="http://schemas.microsoft.com/office/drawing/2014/main" id="{8EDFD6EB-ABE3-033D-5322-AD4AC6B0FC83}"/>
              </a:ext>
            </a:extLst>
          </p:cNvPr>
          <p:cNvSpPr txBox="1"/>
          <p:nvPr/>
        </p:nvSpPr>
        <p:spPr>
          <a:xfrm>
            <a:off x="6005715" y="5700214"/>
            <a:ext cx="1809223"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MODEL BUILDING </a:t>
            </a:r>
            <a:endParaRPr lang="en-IN" dirty="0">
              <a:latin typeface="Times New Roman" panose="02020603050405020304" pitchFamily="18" charset="0"/>
              <a:cs typeface="Times New Roman" panose="02020603050405020304" pitchFamily="18" charset="0"/>
            </a:endParaRPr>
          </a:p>
        </p:txBody>
      </p:sp>
      <p:sp>
        <p:nvSpPr>
          <p:cNvPr id="16" name="Minus Sign 15">
            <a:extLst>
              <a:ext uri="{FF2B5EF4-FFF2-40B4-BE49-F238E27FC236}">
                <a16:creationId xmlns:a16="http://schemas.microsoft.com/office/drawing/2014/main" id="{A90AE5F6-9A6E-D278-EB01-AB400D2C6BFB}"/>
              </a:ext>
            </a:extLst>
          </p:cNvPr>
          <p:cNvSpPr/>
          <p:nvPr/>
        </p:nvSpPr>
        <p:spPr>
          <a:xfrm rot="16200000">
            <a:off x="7187702" y="3714493"/>
            <a:ext cx="1060670" cy="249209"/>
          </a:xfrm>
          <a:prstGeom prst="mathMinus">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0"/>
          <p:cNvSpPr txBox="1">
            <a:spLocks noGrp="1"/>
          </p:cNvSpPr>
          <p:nvPr>
            <p:ph type="title"/>
          </p:nvPr>
        </p:nvSpPr>
        <p:spPr>
          <a:xfrm>
            <a:off x="1087120" y="726929"/>
            <a:ext cx="10058400" cy="96838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0070C0"/>
              </a:buClr>
              <a:buSzPts val="4800"/>
              <a:buFont typeface="Times New Roman"/>
              <a:buNone/>
            </a:pPr>
            <a:r>
              <a:rPr lang="en-US" b="1" u="sng" dirty="0">
                <a:solidFill>
                  <a:schemeClr val="accent2"/>
                </a:solidFill>
                <a:latin typeface="Times New Roman" panose="02020603050405020304" pitchFamily="18" charset="0"/>
                <a:cs typeface="Times New Roman" panose="02020603050405020304" pitchFamily="18" charset="0"/>
              </a:rPr>
              <a:t>Dataset</a:t>
            </a:r>
            <a:endParaRPr b="1" u="sng" dirty="0">
              <a:solidFill>
                <a:schemeClr val="accent2"/>
              </a:solidFill>
              <a:latin typeface="Times New Roman" panose="02020603050405020304" pitchFamily="18" charset="0"/>
              <a:cs typeface="Times New Roman" panose="02020603050405020304" pitchFamily="18" charset="0"/>
            </a:endParaRPr>
          </a:p>
        </p:txBody>
      </p:sp>
      <p:sp>
        <p:nvSpPr>
          <p:cNvPr id="172" name="Google Shape;172;p20"/>
          <p:cNvSpPr txBox="1">
            <a:spLocks noGrp="1"/>
          </p:cNvSpPr>
          <p:nvPr>
            <p:ph type="body" idx="1"/>
          </p:nvPr>
        </p:nvSpPr>
        <p:spPr>
          <a:xfrm>
            <a:off x="737020" y="1794934"/>
            <a:ext cx="5576231" cy="4565226"/>
          </a:xfrm>
          <a:prstGeom prst="rect">
            <a:avLst/>
          </a:prstGeom>
          <a:noFill/>
          <a:ln>
            <a:noFill/>
          </a:ln>
        </p:spPr>
        <p:txBody>
          <a:bodyPr spcFirstLastPara="1" wrap="square" lIns="0" tIns="45700" rIns="0" bIns="45700" anchor="t" anchorCtr="0">
            <a:normAutofit/>
          </a:bodyPr>
          <a:lstStyle/>
          <a:p>
            <a:pPr algn="just">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Speech Dataset:-</a:t>
            </a:r>
          </a:p>
          <a:p>
            <a:pPr marL="114300" indent="0" algn="just">
              <a:buNone/>
            </a:pPr>
            <a:r>
              <a:rPr lang="en-US" b="1" dirty="0">
                <a:latin typeface="Times New Roman" panose="02020603050405020304" pitchFamily="18" charset="0"/>
                <a:cs typeface="Times New Roman" panose="02020603050405020304" pitchFamily="18" charset="0"/>
              </a:rPr>
              <a:t>RAVDESS Dataset: Ryerson Audio-Visual Database of Emotional Speech and Song</a:t>
            </a:r>
          </a:p>
          <a:p>
            <a:pPr marL="114300" indent="0" algn="just">
              <a:buNone/>
            </a:pPr>
            <a:r>
              <a:rPr lang="en-US" dirty="0">
                <a:latin typeface="Times New Roman" panose="02020603050405020304" pitchFamily="18" charset="0"/>
                <a:cs typeface="Times New Roman" panose="02020603050405020304" pitchFamily="18" charset="0"/>
              </a:rPr>
              <a:t>  Developed by</a:t>
            </a:r>
            <a:r>
              <a:rPr lang="en-US" b="1" dirty="0">
                <a:latin typeface="Times New Roman" panose="02020603050405020304" pitchFamily="18" charset="0"/>
                <a:cs typeface="Times New Roman" panose="02020603050405020304" pitchFamily="18" charset="0"/>
              </a:rPr>
              <a:t>: Ryerson University</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dataset includes 8 </a:t>
            </a:r>
            <a:r>
              <a:rPr lang="en-US" dirty="0" err="1">
                <a:latin typeface="Times New Roman" panose="02020603050405020304" pitchFamily="18" charset="0"/>
                <a:cs typeface="Times New Roman" panose="02020603050405020304" pitchFamily="18" charset="0"/>
              </a:rPr>
              <a:t>emotions:Neutral</a:t>
            </a:r>
            <a:r>
              <a:rPr lang="en-US" dirty="0">
                <a:latin typeface="Times New Roman" panose="02020603050405020304" pitchFamily="18" charset="0"/>
                <a:cs typeface="Times New Roman" panose="02020603050405020304" pitchFamily="18" charset="0"/>
              </a:rPr>
              <a:t>, Calm, Happy, Sad, Angry, Fearful, Disgust, and Surprised with a total of 1440 files.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Format:Modality-SpeechType-Emotion-Intensity-Statement-Repetition-Actor.wav</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 03-01-04-01-02-01-01.wav</a:t>
            </a:r>
            <a:endParaRPr lang="en-IN" dirty="0">
              <a:latin typeface="Times New Roman" panose="02020603050405020304" pitchFamily="18" charset="0"/>
              <a:cs typeface="Times New Roman" panose="02020603050405020304" pitchFamily="18" charset="0"/>
            </a:endParaRPr>
          </a:p>
          <a:p>
            <a:pPr algn="ct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457200" lvl="1" indent="0" algn="just">
              <a:buNone/>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dirty="0"/>
          </a:p>
          <a:p>
            <a:pPr marL="0" lvl="0" indent="0" algn="l" rtl="0">
              <a:lnSpc>
                <a:spcPct val="115000"/>
              </a:lnSpc>
              <a:spcBef>
                <a:spcPts val="0"/>
              </a:spcBef>
              <a:spcAft>
                <a:spcPts val="0"/>
              </a:spcAft>
              <a:buNone/>
            </a:pPr>
            <a:endParaRPr sz="2100" dirty="0">
              <a:solidFill>
                <a:schemeClr val="dk1"/>
              </a:solidFill>
              <a:latin typeface="Times New Roman"/>
              <a:ea typeface="Times New Roman"/>
              <a:cs typeface="Times New Roman"/>
              <a:sym typeface="Times New Roman"/>
            </a:endParaRPr>
          </a:p>
        </p:txBody>
      </p:sp>
      <p:sp>
        <p:nvSpPr>
          <p:cNvPr id="173" name="Google Shape;173;p20"/>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CENTRE FOR ARTIFICIAL INTELLIGENCE, TKMCE</a:t>
            </a:r>
            <a:endParaRPr/>
          </a:p>
        </p:txBody>
      </p:sp>
      <p:sp>
        <p:nvSpPr>
          <p:cNvPr id="174" name="Google Shape;174;p20"/>
          <p:cNvSpPr txBox="1">
            <a:spLocks noGrp="1"/>
          </p:cNvSpPr>
          <p:nvPr>
            <p:ph type="sldNum" idx="12"/>
          </p:nvPr>
        </p:nvSpPr>
        <p:spPr>
          <a:xfrm>
            <a:off x="9900458"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 name="Picture 2">
            <a:extLst>
              <a:ext uri="{FF2B5EF4-FFF2-40B4-BE49-F238E27FC236}">
                <a16:creationId xmlns:a16="http://schemas.microsoft.com/office/drawing/2014/main" id="{D8006EE3-80B9-0D36-1C8D-8540026C112D}"/>
              </a:ext>
            </a:extLst>
          </p:cNvPr>
          <p:cNvPicPr>
            <a:picLocks noChangeAspect="1"/>
          </p:cNvPicPr>
          <p:nvPr/>
        </p:nvPicPr>
        <p:blipFill>
          <a:blip r:embed="rId3"/>
          <a:stretch>
            <a:fillRect/>
          </a:stretch>
        </p:blipFill>
        <p:spPr>
          <a:xfrm>
            <a:off x="6577573" y="1794934"/>
            <a:ext cx="5614427" cy="42153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6"/>
          <p:cNvSpPr txBox="1">
            <a:spLocks noGrp="1"/>
          </p:cNvSpPr>
          <p:nvPr>
            <p:ph type="title"/>
          </p:nvPr>
        </p:nvSpPr>
        <p:spPr>
          <a:xfrm>
            <a:off x="145915" y="160180"/>
            <a:ext cx="10058400" cy="607222"/>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chemeClr val="accent2"/>
              </a:buClr>
              <a:buSzPts val="4800"/>
              <a:buFont typeface="Times New Roman"/>
              <a:buNone/>
            </a:pPr>
            <a:r>
              <a:rPr lang="en-US" b="1" u="sng" dirty="0">
                <a:solidFill>
                  <a:schemeClr val="accent2"/>
                </a:solidFill>
                <a:latin typeface="Times New Roman"/>
                <a:ea typeface="Times New Roman"/>
                <a:cs typeface="Times New Roman"/>
                <a:sym typeface="Times New Roman"/>
              </a:rPr>
              <a:t>Results and Discussion</a:t>
            </a:r>
          </a:p>
        </p:txBody>
      </p:sp>
      <p:sp>
        <p:nvSpPr>
          <p:cNvPr id="139" name="Google Shape;139;p16"/>
          <p:cNvSpPr txBox="1">
            <a:spLocks noGrp="1"/>
          </p:cNvSpPr>
          <p:nvPr>
            <p:ph type="body" idx="1"/>
          </p:nvPr>
        </p:nvSpPr>
        <p:spPr>
          <a:xfrm>
            <a:off x="356946" y="2037189"/>
            <a:ext cx="10999123" cy="4500880"/>
          </a:xfrm>
          <a:prstGeom prst="rect">
            <a:avLst/>
          </a:prstGeom>
          <a:noFill/>
          <a:ln>
            <a:noFill/>
          </a:ln>
        </p:spPr>
        <p:txBody>
          <a:bodyPr spcFirstLastPara="1" wrap="square" lIns="0" tIns="45700" rIns="0" bIns="45700" anchor="t" anchorCtr="0">
            <a:normAutofit/>
          </a:bodyPr>
          <a:lstStyle/>
          <a:p>
            <a:pPr marL="91440" lvl="0" indent="0" algn="l" rtl="0">
              <a:lnSpc>
                <a:spcPct val="115000"/>
              </a:lnSpc>
              <a:spcBef>
                <a:spcPts val="1200"/>
              </a:spcBef>
              <a:spcAft>
                <a:spcPts val="0"/>
              </a:spcAft>
              <a:buNone/>
            </a:pPr>
            <a:endParaRPr dirty="0">
              <a:solidFill>
                <a:schemeClr val="dk1"/>
              </a:solidFill>
              <a:latin typeface="Times New Roman"/>
              <a:ea typeface="Times New Roman"/>
              <a:cs typeface="Times New Roman"/>
              <a:sym typeface="Times New Roman"/>
            </a:endParaRPr>
          </a:p>
          <a:p>
            <a:pPr marL="91440" lvl="0" indent="0" algn="just" rtl="0">
              <a:lnSpc>
                <a:spcPct val="100000"/>
              </a:lnSpc>
              <a:spcBef>
                <a:spcPts val="1400"/>
              </a:spcBef>
              <a:spcAft>
                <a:spcPts val="0"/>
              </a:spcAft>
              <a:buNone/>
            </a:pPr>
            <a:endParaRPr lang="en-IN" dirty="0">
              <a:latin typeface="Times New Roman"/>
              <a:ea typeface="Times New Roman"/>
              <a:cs typeface="Times New Roman"/>
              <a:sym typeface="Times New Roman"/>
            </a:endParaRPr>
          </a:p>
          <a:p>
            <a:pPr marL="91440" lvl="0" indent="0" algn="just" rtl="0">
              <a:lnSpc>
                <a:spcPct val="100000"/>
              </a:lnSpc>
              <a:spcBef>
                <a:spcPts val="1400"/>
              </a:spcBef>
              <a:spcAft>
                <a:spcPts val="0"/>
              </a:spcAft>
              <a:buSzPts val="2000"/>
              <a:buFont typeface="Noto Sans Symbols"/>
              <a:buNone/>
            </a:pPr>
            <a:endParaRPr dirty="0">
              <a:latin typeface="Times New Roman"/>
              <a:ea typeface="Times New Roman"/>
              <a:cs typeface="Times New Roman"/>
              <a:sym typeface="Times New Roman"/>
            </a:endParaRPr>
          </a:p>
        </p:txBody>
      </p:sp>
      <p:sp>
        <p:nvSpPr>
          <p:cNvPr id="140" name="Google Shape;140;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200">
                <a:latin typeface="Times New Roman"/>
                <a:ea typeface="Times New Roman"/>
                <a:cs typeface="Times New Roman"/>
                <a:sym typeface="Times New Roman"/>
              </a:rPr>
              <a:t>CENTRE FOR ARTIFICIAL INTELLIGENCE, TKMCE</a:t>
            </a:r>
            <a:endParaRPr/>
          </a:p>
        </p:txBody>
      </p:sp>
      <p:sp>
        <p:nvSpPr>
          <p:cNvPr id="141" name="Google Shape;141;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latin typeface="Times New Roman"/>
                <a:ea typeface="Times New Roman"/>
                <a:cs typeface="Times New Roman"/>
                <a:sym typeface="Times New Roman"/>
              </a:rPr>
              <a:t>25</a:t>
            </a:fld>
            <a:endParaRPr sz="120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351E3D0-A539-E606-99F1-C799317C5640}"/>
              </a:ext>
            </a:extLst>
          </p:cNvPr>
          <p:cNvPicPr>
            <a:picLocks noChangeAspect="1"/>
          </p:cNvPicPr>
          <p:nvPr/>
        </p:nvPicPr>
        <p:blipFill>
          <a:blip r:embed="rId3"/>
          <a:stretch>
            <a:fillRect/>
          </a:stretch>
        </p:blipFill>
        <p:spPr>
          <a:xfrm>
            <a:off x="326900" y="1723654"/>
            <a:ext cx="5739319" cy="3858163"/>
          </a:xfrm>
          <a:prstGeom prst="rect">
            <a:avLst/>
          </a:prstGeom>
        </p:spPr>
      </p:pic>
      <p:pic>
        <p:nvPicPr>
          <p:cNvPr id="5" name="Picture 4">
            <a:extLst>
              <a:ext uri="{FF2B5EF4-FFF2-40B4-BE49-F238E27FC236}">
                <a16:creationId xmlns:a16="http://schemas.microsoft.com/office/drawing/2014/main" id="{C7406176-F2AE-D7D2-4292-428EA3FB19A9}"/>
              </a:ext>
            </a:extLst>
          </p:cNvPr>
          <p:cNvPicPr>
            <a:picLocks noChangeAspect="1"/>
          </p:cNvPicPr>
          <p:nvPr/>
        </p:nvPicPr>
        <p:blipFill>
          <a:blip r:embed="rId4"/>
          <a:stretch>
            <a:fillRect/>
          </a:stretch>
        </p:blipFill>
        <p:spPr>
          <a:xfrm>
            <a:off x="5856507" y="1574687"/>
            <a:ext cx="5980244" cy="3943900"/>
          </a:xfrm>
          <a:prstGeom prst="rect">
            <a:avLst/>
          </a:prstGeom>
        </p:spPr>
      </p:pic>
      <p:sp>
        <p:nvSpPr>
          <p:cNvPr id="6" name="TextBox 5">
            <a:extLst>
              <a:ext uri="{FF2B5EF4-FFF2-40B4-BE49-F238E27FC236}">
                <a16:creationId xmlns:a16="http://schemas.microsoft.com/office/drawing/2014/main" id="{7497FAA0-7D33-CDD2-69E9-4368A73ACE4B}"/>
              </a:ext>
            </a:extLst>
          </p:cNvPr>
          <p:cNvSpPr txBox="1"/>
          <p:nvPr/>
        </p:nvSpPr>
        <p:spPr>
          <a:xfrm>
            <a:off x="846306" y="5581817"/>
            <a:ext cx="457200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"MFCCs capture the speech texture and are crucial for distinguishing emotional tones."</a:t>
            </a: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92EBCF4-D959-A6FA-7266-C26C2FA8E9C0}"/>
              </a:ext>
            </a:extLst>
          </p:cNvPr>
          <p:cNvSpPr txBox="1"/>
          <p:nvPr/>
        </p:nvSpPr>
        <p:spPr>
          <a:xfrm>
            <a:off x="6468894" y="5518587"/>
            <a:ext cx="487680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"Chroma features represent the pitch content across time, highlighting musical elements in speech."</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0921B-A33B-8753-250A-5B2E1A362EBA}"/>
              </a:ext>
            </a:extLst>
          </p:cNvPr>
          <p:cNvSpPr>
            <a:spLocks noGrp="1"/>
          </p:cNvSpPr>
          <p:nvPr>
            <p:ph type="title"/>
          </p:nvPr>
        </p:nvSpPr>
        <p:spPr>
          <a:xfrm>
            <a:off x="221790" y="33090"/>
            <a:ext cx="10058400" cy="667317"/>
          </a:xfrm>
        </p:spPr>
        <p:txBody>
          <a:bodyPr>
            <a:normAutofit fontScale="90000"/>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E856A08-E983-4548-3DEA-9232ADCB87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pic>
        <p:nvPicPr>
          <p:cNvPr id="6" name="Picture 5">
            <a:extLst>
              <a:ext uri="{FF2B5EF4-FFF2-40B4-BE49-F238E27FC236}">
                <a16:creationId xmlns:a16="http://schemas.microsoft.com/office/drawing/2014/main" id="{5BAD316A-0F6F-753D-608D-FFB00296304F}"/>
              </a:ext>
            </a:extLst>
          </p:cNvPr>
          <p:cNvPicPr>
            <a:picLocks noChangeAspect="1"/>
          </p:cNvPicPr>
          <p:nvPr/>
        </p:nvPicPr>
        <p:blipFill>
          <a:blip r:embed="rId2"/>
          <a:stretch>
            <a:fillRect/>
          </a:stretch>
        </p:blipFill>
        <p:spPr>
          <a:xfrm>
            <a:off x="0" y="1495155"/>
            <a:ext cx="6096000" cy="3867690"/>
          </a:xfrm>
          <a:prstGeom prst="rect">
            <a:avLst/>
          </a:prstGeom>
        </p:spPr>
      </p:pic>
      <p:pic>
        <p:nvPicPr>
          <p:cNvPr id="8" name="Picture 7">
            <a:extLst>
              <a:ext uri="{FF2B5EF4-FFF2-40B4-BE49-F238E27FC236}">
                <a16:creationId xmlns:a16="http://schemas.microsoft.com/office/drawing/2014/main" id="{5D8F725D-516C-30F0-201F-855307942F7B}"/>
              </a:ext>
            </a:extLst>
          </p:cNvPr>
          <p:cNvPicPr>
            <a:picLocks noChangeAspect="1"/>
          </p:cNvPicPr>
          <p:nvPr/>
        </p:nvPicPr>
        <p:blipFill>
          <a:blip r:embed="rId3"/>
          <a:stretch>
            <a:fillRect/>
          </a:stretch>
        </p:blipFill>
        <p:spPr>
          <a:xfrm>
            <a:off x="6081537" y="1478184"/>
            <a:ext cx="5994958" cy="3867690"/>
          </a:xfrm>
          <a:prstGeom prst="rect">
            <a:avLst/>
          </a:prstGeom>
        </p:spPr>
      </p:pic>
      <p:sp>
        <p:nvSpPr>
          <p:cNvPr id="9" name="TextBox 8">
            <a:extLst>
              <a:ext uri="{FF2B5EF4-FFF2-40B4-BE49-F238E27FC236}">
                <a16:creationId xmlns:a16="http://schemas.microsoft.com/office/drawing/2014/main" id="{73415277-817E-E9FC-3489-DD0F7DC2461F}"/>
              </a:ext>
            </a:extLst>
          </p:cNvPr>
          <p:cNvSpPr txBox="1"/>
          <p:nvPr/>
        </p:nvSpPr>
        <p:spPr>
          <a:xfrm>
            <a:off x="651753" y="5362845"/>
            <a:ext cx="4756826"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Tonnetz</a:t>
            </a:r>
            <a:r>
              <a:rPr lang="en-US" sz="1600" dirty="0">
                <a:latin typeface="Times New Roman" panose="02020603050405020304" pitchFamily="18" charset="0"/>
                <a:cs typeface="Times New Roman" panose="02020603050405020304" pitchFamily="18" charset="0"/>
              </a:rPr>
              <a:t> shows harmonic relations, important for detecting tonal emotions."</a:t>
            </a:r>
            <a:endParaRPr lang="en-IN"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CA71047-7B31-5D2D-F55E-0A049B9F9E31}"/>
              </a:ext>
            </a:extLst>
          </p:cNvPr>
          <p:cNvSpPr txBox="1"/>
          <p:nvPr/>
        </p:nvSpPr>
        <p:spPr>
          <a:xfrm>
            <a:off x="6945549" y="5242431"/>
            <a:ext cx="4266934"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"Mel spectrogram visualizes energy patterns across frequency bands over time."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1759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14F00-E149-2AB6-0C8E-074FD2DB48B1}"/>
              </a:ext>
            </a:extLst>
          </p:cNvPr>
          <p:cNvSpPr>
            <a:spLocks noGrp="1"/>
          </p:cNvSpPr>
          <p:nvPr>
            <p:ph type="title"/>
          </p:nvPr>
        </p:nvSpPr>
        <p:spPr>
          <a:xfrm>
            <a:off x="221790" y="39502"/>
            <a:ext cx="10058400" cy="748454"/>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7C20F2A-03B8-8AEA-94B6-23DFF51B80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pic>
        <p:nvPicPr>
          <p:cNvPr id="6" name="Picture 5">
            <a:extLst>
              <a:ext uri="{FF2B5EF4-FFF2-40B4-BE49-F238E27FC236}">
                <a16:creationId xmlns:a16="http://schemas.microsoft.com/office/drawing/2014/main" id="{5815E8D7-09A2-06E1-BFEE-8ECA447351A3}"/>
              </a:ext>
            </a:extLst>
          </p:cNvPr>
          <p:cNvPicPr>
            <a:picLocks noChangeAspect="1"/>
          </p:cNvPicPr>
          <p:nvPr/>
        </p:nvPicPr>
        <p:blipFill>
          <a:blip r:embed="rId2"/>
          <a:stretch>
            <a:fillRect/>
          </a:stretch>
        </p:blipFill>
        <p:spPr>
          <a:xfrm>
            <a:off x="0" y="1664861"/>
            <a:ext cx="12192000" cy="2827888"/>
          </a:xfrm>
          <a:prstGeom prst="rect">
            <a:avLst/>
          </a:prstGeom>
        </p:spPr>
      </p:pic>
      <p:sp>
        <p:nvSpPr>
          <p:cNvPr id="8" name="TextBox 7">
            <a:extLst>
              <a:ext uri="{FF2B5EF4-FFF2-40B4-BE49-F238E27FC236}">
                <a16:creationId xmlns:a16="http://schemas.microsoft.com/office/drawing/2014/main" id="{6F8E16B7-417B-6AF0-9B79-AE3ABEB8CCCB}"/>
              </a:ext>
            </a:extLst>
          </p:cNvPr>
          <p:cNvSpPr txBox="1"/>
          <p:nvPr/>
        </p:nvSpPr>
        <p:spPr>
          <a:xfrm>
            <a:off x="3249038" y="4786009"/>
            <a:ext cx="5340485"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"Fusion of MFCC, Chroma, </a:t>
            </a:r>
            <a:r>
              <a:rPr lang="en-US" sz="1600" dirty="0" err="1">
                <a:latin typeface="Times New Roman" panose="02020603050405020304" pitchFamily="18" charset="0"/>
                <a:cs typeface="Times New Roman" panose="02020603050405020304" pitchFamily="18" charset="0"/>
              </a:rPr>
              <a:t>Tonnetz</a:t>
            </a:r>
            <a:r>
              <a:rPr lang="en-US" sz="1600" dirty="0">
                <a:latin typeface="Times New Roman" panose="02020603050405020304" pitchFamily="18" charset="0"/>
                <a:cs typeface="Times New Roman" panose="02020603050405020304" pitchFamily="18" charset="0"/>
              </a:rPr>
              <a:t>, and Mel features provides a comprehensive audio representation."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4035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E5DE-8FBE-406F-1F66-A78B568A3DAC}"/>
              </a:ext>
            </a:extLst>
          </p:cNvPr>
          <p:cNvSpPr>
            <a:spLocks noGrp="1"/>
          </p:cNvSpPr>
          <p:nvPr>
            <p:ph type="title"/>
          </p:nvPr>
        </p:nvSpPr>
        <p:spPr/>
        <p:txBody>
          <a:bodyPr/>
          <a:lstStyle/>
          <a:p>
            <a:r>
              <a:rPr lang="en-US" b="1" u="sng" dirty="0">
                <a:solidFill>
                  <a:schemeClr val="accent2"/>
                </a:solidFill>
                <a:latin typeface="Times New Roman" panose="02020603050405020304" pitchFamily="18" charset="0"/>
                <a:cs typeface="Times New Roman" panose="02020603050405020304" pitchFamily="18" charset="0"/>
              </a:rPr>
              <a:t> Feature Comparison</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3D3FA21-74AA-47C0-0004-F3071C6225D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9B536B3-F3F3-4B8E-841A-845772589E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graphicFrame>
        <p:nvGraphicFramePr>
          <p:cNvPr id="5" name="Table 4">
            <a:extLst>
              <a:ext uri="{FF2B5EF4-FFF2-40B4-BE49-F238E27FC236}">
                <a16:creationId xmlns:a16="http://schemas.microsoft.com/office/drawing/2014/main" id="{C9A78CE1-1905-563C-9986-21CFE207DC6A}"/>
              </a:ext>
            </a:extLst>
          </p:cNvPr>
          <p:cNvGraphicFramePr>
            <a:graphicFrameLocks noGrp="1"/>
          </p:cNvGraphicFramePr>
          <p:nvPr>
            <p:extLst>
              <p:ext uri="{D42A27DB-BD31-4B8C-83A1-F6EECF244321}">
                <p14:modId xmlns:p14="http://schemas.microsoft.com/office/powerpoint/2010/main" val="3802874619"/>
              </p:ext>
            </p:extLst>
          </p:nvPr>
        </p:nvGraphicFramePr>
        <p:xfrm>
          <a:off x="1096963" y="2303145"/>
          <a:ext cx="10058400" cy="3474720"/>
        </p:xfrm>
        <a:graphic>
          <a:graphicData uri="http://schemas.openxmlformats.org/drawingml/2006/table">
            <a:tbl>
              <a:tblPr/>
              <a:tblGrid>
                <a:gridCol w="3352800">
                  <a:extLst>
                    <a:ext uri="{9D8B030D-6E8A-4147-A177-3AD203B41FA5}">
                      <a16:colId xmlns:a16="http://schemas.microsoft.com/office/drawing/2014/main" val="3832521600"/>
                    </a:ext>
                  </a:extLst>
                </a:gridCol>
                <a:gridCol w="3352800">
                  <a:extLst>
                    <a:ext uri="{9D8B030D-6E8A-4147-A177-3AD203B41FA5}">
                      <a16:colId xmlns:a16="http://schemas.microsoft.com/office/drawing/2014/main" val="244231535"/>
                    </a:ext>
                  </a:extLst>
                </a:gridCol>
                <a:gridCol w="3352800">
                  <a:extLst>
                    <a:ext uri="{9D8B030D-6E8A-4147-A177-3AD203B41FA5}">
                      <a16:colId xmlns:a16="http://schemas.microsoft.com/office/drawing/2014/main" val="2009054464"/>
                    </a:ext>
                  </a:extLst>
                </a:gridCol>
              </a:tblGrid>
              <a:tr h="0">
                <a:tc>
                  <a:txBody>
                    <a:bodyPr/>
                    <a:lstStyle/>
                    <a:p>
                      <a:pPr algn="l"/>
                      <a:r>
                        <a:rPr lang="en-IN" sz="1600">
                          <a:effectLst/>
                          <a:latin typeface="Times New Roman" panose="02020603050405020304" pitchFamily="18" charset="0"/>
                          <a:cs typeface="Times New Roman" panose="02020603050405020304" pitchFamily="18" charset="0"/>
                        </a:rPr>
                        <a:t>Feature</a:t>
                      </a:r>
                    </a:p>
                  </a:txBody>
                  <a:tcPr anchor="ctr">
                    <a:lnL>
                      <a:noFill/>
                    </a:lnL>
                    <a:lnR>
                      <a:noFill/>
                    </a:lnR>
                    <a:lnT>
                      <a:noFill/>
                    </a:lnT>
                    <a:lnB>
                      <a:noFill/>
                    </a:lnB>
                    <a:noFill/>
                  </a:tcPr>
                </a:tc>
                <a:tc>
                  <a:txBody>
                    <a:bodyPr/>
                    <a:lstStyle/>
                    <a:p>
                      <a:pPr algn="l"/>
                      <a:r>
                        <a:rPr lang="en-IN" sz="1600">
                          <a:effectLst/>
                          <a:latin typeface="Times New Roman" panose="02020603050405020304" pitchFamily="18" charset="0"/>
                          <a:cs typeface="Times New Roman" panose="02020603050405020304" pitchFamily="18" charset="0"/>
                        </a:rPr>
                        <a:t>What it represents</a:t>
                      </a:r>
                    </a:p>
                  </a:txBody>
                  <a:tcPr anchor="ctr">
                    <a:lnL>
                      <a:noFill/>
                    </a:lnL>
                    <a:lnR>
                      <a:noFill/>
                    </a:lnR>
                    <a:lnT>
                      <a:noFill/>
                    </a:lnT>
                    <a:lnB>
                      <a:noFill/>
                    </a:lnB>
                    <a:noFill/>
                  </a:tcPr>
                </a:tc>
                <a:tc>
                  <a:txBody>
                    <a:bodyPr/>
                    <a:lstStyle/>
                    <a:p>
                      <a:pPr algn="l"/>
                      <a:r>
                        <a:rPr lang="en-IN" sz="1600">
                          <a:effectLst/>
                          <a:latin typeface="Times New Roman" panose="02020603050405020304" pitchFamily="18" charset="0"/>
                          <a:cs typeface="Times New Roman" panose="02020603050405020304" pitchFamily="18" charset="0"/>
                        </a:rPr>
                        <a:t>Why it's important</a:t>
                      </a:r>
                    </a:p>
                  </a:txBody>
                  <a:tcPr anchor="ctr">
                    <a:lnL>
                      <a:noFill/>
                    </a:lnL>
                    <a:lnR>
                      <a:noFill/>
                    </a:lnR>
                    <a:lnT>
                      <a:noFill/>
                    </a:lnT>
                    <a:lnB>
                      <a:noFill/>
                    </a:lnB>
                    <a:noFill/>
                  </a:tcPr>
                </a:tc>
                <a:extLst>
                  <a:ext uri="{0D108BD9-81ED-4DB2-BD59-A6C34878D82A}">
                    <a16:rowId xmlns:a16="http://schemas.microsoft.com/office/drawing/2014/main" val="2285003766"/>
                  </a:ext>
                </a:extLst>
              </a:tr>
              <a:tr h="0">
                <a:tc>
                  <a:txBody>
                    <a:bodyPr/>
                    <a:lstStyle/>
                    <a:p>
                      <a:pPr algn="l"/>
                      <a:r>
                        <a:rPr lang="en-IN" sz="1600" b="1">
                          <a:effectLst/>
                          <a:latin typeface="Times New Roman" panose="02020603050405020304" pitchFamily="18" charset="0"/>
                          <a:cs typeface="Times New Roman" panose="02020603050405020304" pitchFamily="18" charset="0"/>
                        </a:rPr>
                        <a:t>MFCC</a:t>
                      </a:r>
                      <a:r>
                        <a:rPr lang="en-IN" sz="1600">
                          <a:effectLst/>
                          <a:latin typeface="Times New Roman" panose="02020603050405020304" pitchFamily="18" charset="0"/>
                          <a:cs typeface="Times New Roman" panose="02020603050405020304" pitchFamily="18" charset="0"/>
                        </a:rPr>
                        <a:t> (Mel-frequency cepstral coefficients)</a:t>
                      </a:r>
                    </a:p>
                  </a:txBody>
                  <a:tcPr anchor="ctr">
                    <a:lnL>
                      <a:noFill/>
                    </a:lnL>
                    <a:lnR>
                      <a:noFill/>
                    </a:lnR>
                    <a:lnT>
                      <a:noFill/>
                    </a:lnT>
                    <a:lnB>
                      <a:noFill/>
                    </a:lnB>
                    <a:noFill/>
                  </a:tcPr>
                </a:tc>
                <a:tc>
                  <a:txBody>
                    <a:bodyPr/>
                    <a:lstStyle/>
                    <a:p>
                      <a:pPr algn="l"/>
                      <a:r>
                        <a:rPr lang="en-US" sz="1600" i="0" dirty="0">
                          <a:effectLst/>
                          <a:latin typeface="Times New Roman" panose="02020603050405020304" pitchFamily="18" charset="0"/>
                          <a:cs typeface="Times New Roman" panose="02020603050405020304" pitchFamily="18" charset="0"/>
                        </a:rPr>
                        <a:t>Represents the timbre and texture of the sound (how it "feels")</a:t>
                      </a:r>
                    </a:p>
                  </a:txBody>
                  <a:tcPr anchor="ctr">
                    <a:lnL>
                      <a:noFill/>
                    </a:lnL>
                    <a:lnR>
                      <a:noFill/>
                    </a:lnR>
                    <a:lnT>
                      <a:noFill/>
                    </a:lnT>
                    <a:lnB>
                      <a:noFill/>
                    </a:lnB>
                    <a:noFill/>
                  </a:tcPr>
                </a:tc>
                <a:tc>
                  <a:txBody>
                    <a:bodyPr/>
                    <a:lstStyle/>
                    <a:p>
                      <a:pPr algn="l"/>
                      <a:r>
                        <a:rPr lang="en-US" sz="1600" b="0" i="0" dirty="0">
                          <a:effectLst/>
                          <a:latin typeface="Times New Roman" panose="02020603050405020304" pitchFamily="18" charset="0"/>
                          <a:cs typeface="Times New Roman" panose="02020603050405020304" pitchFamily="18" charset="0"/>
                        </a:rPr>
                        <a:t>Important for understanding the voice characteristics</a:t>
                      </a:r>
                    </a:p>
                  </a:txBody>
                  <a:tcPr anchor="ctr">
                    <a:lnL>
                      <a:noFill/>
                    </a:lnL>
                    <a:lnR>
                      <a:noFill/>
                    </a:lnR>
                    <a:lnT>
                      <a:noFill/>
                    </a:lnT>
                    <a:lnB>
                      <a:noFill/>
                    </a:lnB>
                    <a:noFill/>
                  </a:tcPr>
                </a:tc>
                <a:extLst>
                  <a:ext uri="{0D108BD9-81ED-4DB2-BD59-A6C34878D82A}">
                    <a16:rowId xmlns:a16="http://schemas.microsoft.com/office/drawing/2014/main" val="1367705992"/>
                  </a:ext>
                </a:extLst>
              </a:tr>
              <a:tr h="0">
                <a:tc>
                  <a:txBody>
                    <a:bodyPr/>
                    <a:lstStyle/>
                    <a:p>
                      <a:pPr algn="l"/>
                      <a:r>
                        <a:rPr lang="en-IN" sz="1600" b="1">
                          <a:effectLst/>
                          <a:latin typeface="Times New Roman" panose="02020603050405020304" pitchFamily="18" charset="0"/>
                          <a:cs typeface="Times New Roman" panose="02020603050405020304" pitchFamily="18" charset="0"/>
                        </a:rPr>
                        <a:t>Chroma</a:t>
                      </a:r>
                      <a:endParaRPr lang="en-IN" sz="1600">
                        <a:effectLs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l"/>
                      <a:r>
                        <a:rPr lang="en-US" sz="1600" i="0" dirty="0">
                          <a:effectLst/>
                          <a:latin typeface="Times New Roman" panose="02020603050405020304" pitchFamily="18" charset="0"/>
                          <a:cs typeface="Times New Roman" panose="02020603050405020304" pitchFamily="18" charset="0"/>
                        </a:rPr>
                        <a:t>Shows pitch classes (notes) across time</a:t>
                      </a:r>
                    </a:p>
                  </a:txBody>
                  <a:tcPr anchor="ctr">
                    <a:lnL>
                      <a:noFill/>
                    </a:lnL>
                    <a:lnR>
                      <a:noFill/>
                    </a:lnR>
                    <a:lnT>
                      <a:noFill/>
                    </a:lnT>
                    <a:lnB>
                      <a:noFill/>
                    </a:lnB>
                    <a:noFill/>
                  </a:tcPr>
                </a:tc>
                <a:tc>
                  <a:txBody>
                    <a:bodyPr/>
                    <a:lstStyle/>
                    <a:p>
                      <a:pPr algn="l"/>
                      <a:r>
                        <a:rPr lang="en-US" sz="1600" dirty="0">
                          <a:effectLst/>
                          <a:latin typeface="Times New Roman" panose="02020603050405020304" pitchFamily="18" charset="0"/>
                          <a:cs typeface="Times New Roman" panose="02020603050405020304" pitchFamily="18" charset="0"/>
                        </a:rPr>
                        <a:t>Useful because emotions often involve pitch changes (like high-pitched anger, low-pitched sadness)</a:t>
                      </a:r>
                    </a:p>
                  </a:txBody>
                  <a:tcPr anchor="ctr">
                    <a:lnL>
                      <a:noFill/>
                    </a:lnL>
                    <a:lnR>
                      <a:noFill/>
                    </a:lnR>
                    <a:lnT>
                      <a:noFill/>
                    </a:lnT>
                    <a:lnB>
                      <a:noFill/>
                    </a:lnB>
                    <a:noFill/>
                  </a:tcPr>
                </a:tc>
                <a:extLst>
                  <a:ext uri="{0D108BD9-81ED-4DB2-BD59-A6C34878D82A}">
                    <a16:rowId xmlns:a16="http://schemas.microsoft.com/office/drawing/2014/main" val="1142012510"/>
                  </a:ext>
                </a:extLst>
              </a:tr>
              <a:tr h="0">
                <a:tc>
                  <a:txBody>
                    <a:bodyPr/>
                    <a:lstStyle/>
                    <a:p>
                      <a:pPr algn="l"/>
                      <a:r>
                        <a:rPr lang="en-IN" sz="1600" b="1">
                          <a:effectLst/>
                          <a:latin typeface="Times New Roman" panose="02020603050405020304" pitchFamily="18" charset="0"/>
                          <a:cs typeface="Times New Roman" panose="02020603050405020304" pitchFamily="18" charset="0"/>
                        </a:rPr>
                        <a:t>Tonnetz</a:t>
                      </a:r>
                      <a:endParaRPr lang="en-IN" sz="1600">
                        <a:effectLs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l"/>
                      <a:r>
                        <a:rPr lang="en-IN" sz="1600" i="0" dirty="0">
                          <a:effectLst/>
                          <a:latin typeface="Times New Roman" panose="02020603050405020304" pitchFamily="18" charset="0"/>
                          <a:cs typeface="Times New Roman" panose="02020603050405020304" pitchFamily="18" charset="0"/>
                        </a:rPr>
                        <a:t>Describes harmonic relationships</a:t>
                      </a:r>
                    </a:p>
                  </a:txBody>
                  <a:tcPr anchor="ctr">
                    <a:lnL>
                      <a:noFill/>
                    </a:lnL>
                    <a:lnR>
                      <a:noFill/>
                    </a:lnR>
                    <a:lnT>
                      <a:noFill/>
                    </a:lnT>
                    <a:lnB>
                      <a:noFill/>
                    </a:lnB>
                    <a:noFill/>
                  </a:tcPr>
                </a:tc>
                <a:tc>
                  <a:txBody>
                    <a:bodyPr/>
                    <a:lstStyle/>
                    <a:p>
                      <a:pPr algn="l"/>
                      <a:r>
                        <a:rPr lang="en-US" sz="1600" dirty="0">
                          <a:effectLst/>
                          <a:latin typeface="Times New Roman" panose="02020603050405020304" pitchFamily="18" charset="0"/>
                          <a:cs typeface="Times New Roman" panose="02020603050405020304" pitchFamily="18" charset="0"/>
                        </a:rPr>
                        <a:t>Captures musicality and tonal shifts, which can also reflect emotion</a:t>
                      </a:r>
                    </a:p>
                  </a:txBody>
                  <a:tcPr anchor="ctr">
                    <a:lnL>
                      <a:noFill/>
                    </a:lnL>
                    <a:lnR>
                      <a:noFill/>
                    </a:lnR>
                    <a:lnT>
                      <a:noFill/>
                    </a:lnT>
                    <a:lnB>
                      <a:noFill/>
                    </a:lnB>
                    <a:noFill/>
                  </a:tcPr>
                </a:tc>
                <a:extLst>
                  <a:ext uri="{0D108BD9-81ED-4DB2-BD59-A6C34878D82A}">
                    <a16:rowId xmlns:a16="http://schemas.microsoft.com/office/drawing/2014/main" val="3624669719"/>
                  </a:ext>
                </a:extLst>
              </a:tr>
              <a:tr h="0">
                <a:tc>
                  <a:txBody>
                    <a:bodyPr/>
                    <a:lstStyle/>
                    <a:p>
                      <a:pPr algn="l"/>
                      <a:r>
                        <a:rPr lang="en-IN" sz="1600" b="1">
                          <a:effectLst/>
                          <a:latin typeface="Times New Roman" panose="02020603050405020304" pitchFamily="18" charset="0"/>
                          <a:cs typeface="Times New Roman" panose="02020603050405020304" pitchFamily="18" charset="0"/>
                        </a:rPr>
                        <a:t>Mel Spectrogram</a:t>
                      </a:r>
                      <a:endParaRPr lang="en-IN" sz="1600">
                        <a:effectLs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l"/>
                      <a:r>
                        <a:rPr lang="en-US" sz="1600" i="0" dirty="0">
                          <a:effectLst/>
                          <a:latin typeface="Times New Roman" panose="02020603050405020304" pitchFamily="18" charset="0"/>
                          <a:cs typeface="Times New Roman" panose="02020603050405020304" pitchFamily="18" charset="0"/>
                        </a:rPr>
                        <a:t>Shows energy in different frequency bands over time</a:t>
                      </a:r>
                    </a:p>
                  </a:txBody>
                  <a:tcPr anchor="ctr">
                    <a:lnL>
                      <a:noFill/>
                    </a:lnL>
                    <a:lnR>
                      <a:noFill/>
                    </a:lnR>
                    <a:lnT>
                      <a:noFill/>
                    </a:lnT>
                    <a:lnB>
                      <a:noFill/>
                    </a:lnB>
                    <a:noFill/>
                  </a:tcPr>
                </a:tc>
                <a:tc>
                  <a:txBody>
                    <a:bodyPr/>
                    <a:lstStyle/>
                    <a:p>
                      <a:pPr algn="l"/>
                      <a:r>
                        <a:rPr lang="en-US" sz="1600">
                          <a:effectLst/>
                          <a:latin typeface="Times New Roman" panose="02020603050405020304" pitchFamily="18" charset="0"/>
                          <a:cs typeface="Times New Roman" panose="02020603050405020304" pitchFamily="18" charset="0"/>
                        </a:rPr>
                        <a:t>Helps visualize intensity, rhythm, and patterns in speech</a:t>
                      </a:r>
                    </a:p>
                  </a:txBody>
                  <a:tcPr anchor="ctr">
                    <a:lnL>
                      <a:noFill/>
                    </a:lnL>
                    <a:lnR>
                      <a:noFill/>
                    </a:lnR>
                    <a:lnT>
                      <a:noFill/>
                    </a:lnT>
                    <a:lnB>
                      <a:noFill/>
                    </a:lnB>
                    <a:noFill/>
                  </a:tcPr>
                </a:tc>
                <a:extLst>
                  <a:ext uri="{0D108BD9-81ED-4DB2-BD59-A6C34878D82A}">
                    <a16:rowId xmlns:a16="http://schemas.microsoft.com/office/drawing/2014/main" val="3075447083"/>
                  </a:ext>
                </a:extLst>
              </a:tr>
              <a:tr h="0">
                <a:tc>
                  <a:txBody>
                    <a:bodyPr/>
                    <a:lstStyle/>
                    <a:p>
                      <a:pPr algn="l"/>
                      <a:r>
                        <a:rPr lang="en-IN" sz="1600" b="1" dirty="0">
                          <a:effectLst/>
                          <a:latin typeface="Times New Roman" panose="02020603050405020304" pitchFamily="18" charset="0"/>
                          <a:cs typeface="Times New Roman" panose="02020603050405020304" pitchFamily="18" charset="0"/>
                        </a:rPr>
                        <a:t>Combined Features</a:t>
                      </a:r>
                      <a:endParaRPr lang="en-IN" sz="1600" dirty="0">
                        <a:effectLst/>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l"/>
                      <a:r>
                        <a:rPr lang="en-US" sz="1600">
                          <a:effectLst/>
                          <a:latin typeface="Times New Roman" panose="02020603050405020304" pitchFamily="18" charset="0"/>
                          <a:cs typeface="Times New Roman" panose="02020603050405020304" pitchFamily="18" charset="0"/>
                        </a:rPr>
                        <a:t>A fused view of all important aspects</a:t>
                      </a:r>
                    </a:p>
                  </a:txBody>
                  <a:tcPr anchor="ctr">
                    <a:lnL>
                      <a:noFill/>
                    </a:lnL>
                    <a:lnR>
                      <a:noFill/>
                    </a:lnR>
                    <a:lnT>
                      <a:noFill/>
                    </a:lnT>
                    <a:lnB>
                      <a:noFill/>
                    </a:lnB>
                    <a:noFill/>
                  </a:tcPr>
                </a:tc>
                <a:tc>
                  <a:txBody>
                    <a:bodyPr/>
                    <a:lstStyle/>
                    <a:p>
                      <a:pPr algn="l"/>
                      <a:r>
                        <a:rPr lang="en-US" sz="1600" dirty="0">
                          <a:effectLst/>
                          <a:latin typeface="Times New Roman" panose="02020603050405020304" pitchFamily="18" charset="0"/>
                          <a:cs typeface="Times New Roman" panose="02020603050405020304" pitchFamily="18" charset="0"/>
                        </a:rPr>
                        <a:t>Model gets</a:t>
                      </a:r>
                      <a:r>
                        <a:rPr lang="en-US" sz="1600" b="0" dirty="0">
                          <a:effectLst/>
                          <a:latin typeface="Times New Roman" panose="02020603050405020304" pitchFamily="18" charset="0"/>
                          <a:cs typeface="Times New Roman" panose="02020603050405020304" pitchFamily="18" charset="0"/>
                        </a:rPr>
                        <a:t> fuller information </a:t>
                      </a:r>
                      <a:r>
                        <a:rPr lang="en-US" sz="1600" dirty="0">
                          <a:effectLst/>
                          <a:latin typeface="Times New Roman" panose="02020603050405020304" pitchFamily="18" charset="0"/>
                          <a:cs typeface="Times New Roman" panose="02020603050405020304" pitchFamily="18" charset="0"/>
                        </a:rPr>
                        <a:t>to make better predictions</a:t>
                      </a:r>
                    </a:p>
                  </a:txBody>
                  <a:tcPr anchor="ctr">
                    <a:lnL>
                      <a:noFill/>
                    </a:lnL>
                    <a:lnR>
                      <a:noFill/>
                    </a:lnR>
                    <a:lnT>
                      <a:noFill/>
                    </a:lnT>
                    <a:lnB>
                      <a:noFill/>
                    </a:lnB>
                    <a:noFill/>
                  </a:tcPr>
                </a:tc>
                <a:extLst>
                  <a:ext uri="{0D108BD9-81ED-4DB2-BD59-A6C34878D82A}">
                    <a16:rowId xmlns:a16="http://schemas.microsoft.com/office/drawing/2014/main" val="3012973546"/>
                  </a:ext>
                </a:extLst>
              </a:tr>
            </a:tbl>
          </a:graphicData>
        </a:graphic>
      </p:graphicFrame>
    </p:spTree>
    <p:extLst>
      <p:ext uri="{BB962C8B-B14F-4D97-AF65-F5344CB8AC3E}">
        <p14:creationId xmlns:p14="http://schemas.microsoft.com/office/powerpoint/2010/main" val="2399810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3B86-4982-154F-D5E5-C83B7E300878}"/>
              </a:ext>
            </a:extLst>
          </p:cNvPr>
          <p:cNvSpPr>
            <a:spLocks noGrp="1"/>
          </p:cNvSpPr>
          <p:nvPr>
            <p:ph type="title"/>
          </p:nvPr>
        </p:nvSpPr>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D12BD42-A1D1-8CCE-F8F6-57F4E61D5B61}"/>
              </a:ext>
            </a:extLst>
          </p:cNvPr>
          <p:cNvSpPr>
            <a:spLocks noGrp="1"/>
          </p:cNvSpPr>
          <p:nvPr>
            <p:ph type="body" idx="1"/>
          </p:nvPr>
        </p:nvSpPr>
        <p:spPr/>
        <p:txBody>
          <a:bodyPr>
            <a:normAutofit fontScale="92500" lnSpcReduction="20000"/>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Input is a fused feature vector of shape (100, 159) per sample.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linear layer reduces features from 159 to 128 → shape becomes (</a:t>
            </a:r>
            <a:r>
              <a:rPr lang="en-US" dirty="0" err="1">
                <a:latin typeface="Times New Roman" panose="02020603050405020304" pitchFamily="18" charset="0"/>
                <a:cs typeface="Times New Roman" panose="02020603050405020304" pitchFamily="18" charset="0"/>
              </a:rPr>
              <a:t>batch_size</a:t>
            </a:r>
            <a:r>
              <a:rPr lang="en-US" dirty="0">
                <a:latin typeface="Times New Roman" panose="02020603050405020304" pitchFamily="18" charset="0"/>
                <a:cs typeface="Times New Roman" panose="02020603050405020304" pitchFamily="18" charset="0"/>
              </a:rPr>
              <a:t>, 100, 128).</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Learnable positional encoding is added to retain the order of time steps.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Input is reshaped to (100, </a:t>
            </a:r>
            <a:r>
              <a:rPr lang="en-US" dirty="0" err="1">
                <a:latin typeface="Times New Roman" panose="02020603050405020304" pitchFamily="18" charset="0"/>
                <a:cs typeface="Times New Roman" panose="02020603050405020304" pitchFamily="18" charset="0"/>
              </a:rPr>
              <a:t>batch_size</a:t>
            </a:r>
            <a:r>
              <a:rPr lang="en-US" dirty="0">
                <a:latin typeface="Times New Roman" panose="02020603050405020304" pitchFamily="18" charset="0"/>
                <a:cs typeface="Times New Roman" panose="02020603050405020304" pitchFamily="18" charset="0"/>
              </a:rPr>
              <a:t>, 128) for the transformer encoder.</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Transformer encoder uses:</a:t>
            </a:r>
          </a:p>
          <a:p>
            <a:pPr marL="571500" indent="-457200" algn="just">
              <a:buFont typeface="+mj-lt"/>
              <a:buAutoNum type="arabicPeriod"/>
            </a:pPr>
            <a:r>
              <a:rPr lang="en-US" dirty="0">
                <a:latin typeface="Times New Roman" panose="02020603050405020304" pitchFamily="18" charset="0"/>
                <a:cs typeface="Times New Roman" panose="02020603050405020304" pitchFamily="18" charset="0"/>
              </a:rPr>
              <a:t>Multi-head self-attention to capture temporal relationships.</a:t>
            </a:r>
          </a:p>
          <a:p>
            <a:pPr marL="571500" indent="-457200" algn="just">
              <a:buFont typeface="+mj-lt"/>
              <a:buAutoNum type="arabicPeriod"/>
            </a:pPr>
            <a:r>
              <a:rPr lang="en-US" dirty="0">
                <a:latin typeface="Times New Roman" panose="02020603050405020304" pitchFamily="18" charset="0"/>
                <a:cs typeface="Times New Roman" panose="02020603050405020304" pitchFamily="18" charset="0"/>
              </a:rPr>
              <a:t>Feed-forward layers to process token-wise representations.</a:t>
            </a:r>
          </a:p>
          <a:p>
            <a:pPr marL="571500" indent="-457200" algn="just">
              <a:buFont typeface="+mj-lt"/>
              <a:buAutoNum type="arabicPeriod"/>
            </a:pPr>
            <a:r>
              <a:rPr lang="en-US" dirty="0">
                <a:latin typeface="Times New Roman" panose="02020603050405020304" pitchFamily="18" charset="0"/>
                <a:cs typeface="Times New Roman" panose="02020603050405020304" pitchFamily="18" charset="0"/>
              </a:rPr>
              <a:t>Layer normalization and residual connections.</a:t>
            </a:r>
          </a:p>
          <a:p>
            <a:pPr marL="571500" indent="-457200" algn="just">
              <a:buFont typeface="+mj-lt"/>
              <a:buAutoNum type="arabicPeriod"/>
            </a:pPr>
            <a:r>
              <a:rPr lang="en-US" dirty="0">
                <a:latin typeface="Times New Roman" panose="02020603050405020304" pitchFamily="18" charset="0"/>
                <a:cs typeface="Times New Roman" panose="02020603050405020304" pitchFamily="18" charset="0"/>
              </a:rPr>
              <a:t>2 stacked transformer </a:t>
            </a:r>
            <a:r>
              <a:rPr lang="en-US" dirty="0" err="1">
                <a:latin typeface="Times New Roman" panose="02020603050405020304" pitchFamily="18" charset="0"/>
                <a:cs typeface="Times New Roman" panose="02020603050405020304" pitchFamily="18" charset="0"/>
              </a:rPr>
              <a:t>layers.Output</a:t>
            </a:r>
            <a:r>
              <a:rPr lang="en-US" dirty="0">
                <a:latin typeface="Times New Roman" panose="02020603050405020304" pitchFamily="18" charset="0"/>
                <a:cs typeface="Times New Roman" panose="02020603050405020304" pitchFamily="18" charset="0"/>
              </a:rPr>
              <a:t> is mean-pooled across the 100 time steps → shape becomes (</a:t>
            </a:r>
            <a:r>
              <a:rPr lang="en-US" dirty="0" err="1">
                <a:latin typeface="Times New Roman" panose="02020603050405020304" pitchFamily="18" charset="0"/>
                <a:cs typeface="Times New Roman" panose="02020603050405020304" pitchFamily="18" charset="0"/>
              </a:rPr>
              <a:t>batch_size</a:t>
            </a:r>
            <a:r>
              <a:rPr lang="en-US" dirty="0">
                <a:latin typeface="Times New Roman" panose="02020603050405020304" pitchFamily="18" charset="0"/>
                <a:cs typeface="Times New Roman" panose="02020603050405020304" pitchFamily="18" charset="0"/>
              </a:rPr>
              <a:t>, 128).</a:t>
            </a:r>
          </a:p>
          <a:p>
            <a:pPr marL="571500" indent="-457200" algn="just">
              <a:buFont typeface="+mj-lt"/>
              <a:buAutoNum type="arabicPeriod"/>
            </a:pPr>
            <a:r>
              <a:rPr lang="en-US" dirty="0">
                <a:latin typeface="Times New Roman" panose="02020603050405020304" pitchFamily="18" charset="0"/>
                <a:cs typeface="Times New Roman" panose="02020603050405020304" pitchFamily="18" charset="0"/>
              </a:rPr>
              <a:t>A final linear layer maps this to 8 emotion classes → output shape: (</a:t>
            </a:r>
            <a:r>
              <a:rPr lang="en-US" dirty="0" err="1">
                <a:latin typeface="Times New Roman" panose="02020603050405020304" pitchFamily="18" charset="0"/>
                <a:cs typeface="Times New Roman" panose="02020603050405020304" pitchFamily="18" charset="0"/>
              </a:rPr>
              <a:t>batch_size</a:t>
            </a:r>
            <a:r>
              <a:rPr lang="en-US" dirty="0">
                <a:latin typeface="Times New Roman" panose="02020603050405020304" pitchFamily="18" charset="0"/>
                <a:cs typeface="Times New Roman" panose="02020603050405020304" pitchFamily="18" charset="0"/>
              </a:rPr>
              <a:t>, 8).</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4A23151-FB67-F5DF-69B1-EED0492F8F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extLst>
      <p:ext uri="{BB962C8B-B14F-4D97-AF65-F5344CB8AC3E}">
        <p14:creationId xmlns:p14="http://schemas.microsoft.com/office/powerpoint/2010/main" val="3252760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56910-0DB7-8C0F-479F-3FB8B1EA50E8}"/>
              </a:ext>
            </a:extLst>
          </p:cNvPr>
          <p:cNvSpPr>
            <a:spLocks noGrp="1"/>
          </p:cNvSpPr>
          <p:nvPr>
            <p:ph type="title"/>
          </p:nvPr>
        </p:nvSpPr>
        <p:spPr>
          <a:xfrm>
            <a:off x="301557" y="286604"/>
            <a:ext cx="10854123" cy="763984"/>
          </a:xfrm>
        </p:spPr>
        <p:txBody>
          <a:bodyPr/>
          <a:lstStyle/>
          <a:p>
            <a:r>
              <a:rPr lang="en-US" b="1" u="sng" dirty="0" err="1">
                <a:solidFill>
                  <a:schemeClr val="accent2"/>
                </a:solidFill>
                <a:latin typeface="Times New Roman" panose="02020603050405020304" pitchFamily="18" charset="0"/>
                <a:cs typeface="Times New Roman" panose="02020603050405020304" pitchFamily="18" charset="0"/>
              </a:rPr>
              <a:t>Contd</a:t>
            </a:r>
            <a:r>
              <a:rPr lang="en-US" b="1" u="sng" dirty="0">
                <a:solidFill>
                  <a:schemeClr val="accent2"/>
                </a:solidFill>
                <a:latin typeface="Times New Roman" panose="02020603050405020304" pitchFamily="18" charset="0"/>
                <a:cs typeface="Times New Roman" panose="02020603050405020304" pitchFamily="18" charset="0"/>
              </a:rPr>
              <a:t>…</a:t>
            </a:r>
            <a:endParaRPr lang="en-IN" b="1" u="sng" dirty="0">
              <a:solidFill>
                <a:schemeClr val="accent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6C6ECF2-5EAB-7E58-DF5B-2B0ADEDD29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pic>
        <p:nvPicPr>
          <p:cNvPr id="8" name="Picture 7">
            <a:extLst>
              <a:ext uri="{FF2B5EF4-FFF2-40B4-BE49-F238E27FC236}">
                <a16:creationId xmlns:a16="http://schemas.microsoft.com/office/drawing/2014/main" id="{A3B904A7-BDD3-DC19-FC3D-120BA50919CF}"/>
              </a:ext>
            </a:extLst>
          </p:cNvPr>
          <p:cNvPicPr>
            <a:picLocks noChangeAspect="1"/>
          </p:cNvPicPr>
          <p:nvPr/>
        </p:nvPicPr>
        <p:blipFill>
          <a:blip r:embed="rId2"/>
          <a:stretch>
            <a:fillRect/>
          </a:stretch>
        </p:blipFill>
        <p:spPr>
          <a:xfrm>
            <a:off x="568126" y="1050588"/>
            <a:ext cx="10526594" cy="5136203"/>
          </a:xfrm>
          <a:prstGeom prst="rect">
            <a:avLst/>
          </a:prstGeom>
        </p:spPr>
      </p:pic>
    </p:spTree>
    <p:extLst>
      <p:ext uri="{BB962C8B-B14F-4D97-AF65-F5344CB8AC3E}">
        <p14:creationId xmlns:p14="http://schemas.microsoft.com/office/powerpoint/2010/main" val="3918104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1"/>
          <p:cNvSpPr txBox="1">
            <a:spLocks noGrp="1"/>
          </p:cNvSpPr>
          <p:nvPr>
            <p:ph type="title"/>
          </p:nvPr>
        </p:nvSpPr>
        <p:spPr>
          <a:xfrm>
            <a:off x="1153958" y="474072"/>
            <a:ext cx="10058400" cy="116990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accent2"/>
              </a:buClr>
              <a:buSzPts val="4800"/>
              <a:buFont typeface="Times New Roman"/>
              <a:buNone/>
            </a:pPr>
            <a:r>
              <a:rPr lang="en-US" b="1" u="sng" dirty="0">
                <a:solidFill>
                  <a:schemeClr val="accent2"/>
                </a:solidFill>
                <a:latin typeface="Times New Roman"/>
                <a:ea typeface="Times New Roman"/>
                <a:cs typeface="Times New Roman"/>
                <a:sym typeface="Times New Roman"/>
              </a:rPr>
              <a:t>Conclusion</a:t>
            </a:r>
            <a:endParaRPr dirty="0">
              <a:solidFill>
                <a:schemeClr val="accent2"/>
              </a:solidFill>
              <a:highlight>
                <a:srgbClr val="FFFF00"/>
              </a:highlight>
              <a:latin typeface="Times New Roman"/>
              <a:ea typeface="Times New Roman"/>
              <a:cs typeface="Times New Roman"/>
              <a:sym typeface="Times New Roman"/>
            </a:endParaRPr>
          </a:p>
        </p:txBody>
      </p:sp>
      <p:sp>
        <p:nvSpPr>
          <p:cNvPr id="180" name="Google Shape;180;p21"/>
          <p:cNvSpPr txBox="1">
            <a:spLocks noGrp="1"/>
          </p:cNvSpPr>
          <p:nvPr>
            <p:ph type="body" idx="1"/>
          </p:nvPr>
        </p:nvSpPr>
        <p:spPr>
          <a:xfrm>
            <a:off x="985520" y="1831447"/>
            <a:ext cx="10678200" cy="4253400"/>
          </a:xfrm>
          <a:prstGeom prst="rect">
            <a:avLst/>
          </a:prstGeom>
          <a:noFill/>
          <a:ln>
            <a:noFill/>
          </a:ln>
        </p:spPr>
        <p:txBody>
          <a:bodyPr spcFirstLastPara="1" wrap="square" lIns="0" tIns="45700" rIns="0" bIns="45700" anchor="t" anchorCtr="0">
            <a:noAutofit/>
          </a:bodyPr>
          <a:lstStyle/>
          <a:p>
            <a:pPr marL="285750" lvl="0" indent="-285750" algn="just" rtl="0">
              <a:lnSpc>
                <a:spcPct val="115000"/>
              </a:lnSpc>
              <a:spcBef>
                <a:spcPts val="1200"/>
              </a:spcBef>
              <a:spcAft>
                <a:spcPts val="0"/>
              </a:spcAft>
              <a:buFont typeface="Wingdings" panose="05000000000000000000" pitchFamily="2" charset="2"/>
              <a:buChar char="v"/>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The project successfully performs speech emotion classification using fused acoustic features.</a:t>
            </a:r>
          </a:p>
          <a:p>
            <a:pPr marL="285750" lvl="0" indent="-285750" algn="just" rtl="0">
              <a:lnSpc>
                <a:spcPct val="115000"/>
              </a:lnSpc>
              <a:spcBef>
                <a:spcPts val="1200"/>
              </a:spcBef>
              <a:spcAft>
                <a:spcPts val="0"/>
              </a:spcAft>
              <a:buFont typeface="Wingdings" panose="05000000000000000000" pitchFamily="2" charset="2"/>
              <a:buChar char="v"/>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Transformer model provides reliable emotion recognition across 8 distinct categories.</a:t>
            </a:r>
          </a:p>
          <a:p>
            <a:pPr marL="285750" lvl="0" indent="-285750" algn="just" rtl="0">
              <a:lnSpc>
                <a:spcPct val="115000"/>
              </a:lnSpc>
              <a:spcBef>
                <a:spcPts val="1200"/>
              </a:spcBef>
              <a:spcAft>
                <a:spcPts val="0"/>
              </a:spcAft>
              <a:buFont typeface="Wingdings" panose="05000000000000000000" pitchFamily="2" charset="2"/>
              <a:buChar char="v"/>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The system shows strong potential for applications in human-computer interaction and affective computing.</a:t>
            </a:r>
          </a:p>
          <a:p>
            <a:pPr marL="285750" lvl="0" indent="-285750" algn="just" rtl="0">
              <a:lnSpc>
                <a:spcPct val="115000"/>
              </a:lnSpc>
              <a:spcBef>
                <a:spcPts val="1200"/>
              </a:spcBef>
              <a:spcAft>
                <a:spcPts val="0"/>
              </a:spcAft>
              <a:buFont typeface="Wingdings" panose="05000000000000000000" pitchFamily="2" charset="2"/>
              <a:buChar char="v"/>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Highlights the importance of feature fusion for improved emotion detection accuracy.</a:t>
            </a:r>
          </a:p>
          <a:p>
            <a:pPr marL="285750" lvl="0" indent="-285750" algn="just" rtl="0">
              <a:lnSpc>
                <a:spcPct val="115000"/>
              </a:lnSpc>
              <a:spcBef>
                <a:spcPts val="1200"/>
              </a:spcBef>
              <a:spcAft>
                <a:spcPts val="0"/>
              </a:spcAft>
              <a:buFont typeface="Wingdings" panose="05000000000000000000" pitchFamily="2" charset="2"/>
              <a:buChar char="v"/>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The approach demonstrates the relevance of deep learning in understanding human emotions through speech.</a:t>
            </a:r>
          </a:p>
        </p:txBody>
      </p:sp>
      <p:sp>
        <p:nvSpPr>
          <p:cNvPr id="181" name="Google Shape;181;p21"/>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200">
                <a:latin typeface="Times New Roman"/>
                <a:ea typeface="Times New Roman"/>
                <a:cs typeface="Times New Roman"/>
                <a:sym typeface="Times New Roman"/>
              </a:rPr>
              <a:t>CENTRE FOR ARTIFICIAL INTELLIGENCE, TKMCE</a:t>
            </a:r>
            <a:endParaRPr/>
          </a:p>
        </p:txBody>
      </p:sp>
      <p:sp>
        <p:nvSpPr>
          <p:cNvPr id="182" name="Google Shape;182;p21"/>
          <p:cNvSpPr txBox="1">
            <a:spLocks noGrp="1"/>
          </p:cNvSpPr>
          <p:nvPr>
            <p:ph type="sldNum" idx="12"/>
          </p:nvPr>
        </p:nvSpPr>
        <p:spPr>
          <a:xfrm>
            <a:off x="9900458"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latin typeface="Times New Roman"/>
                <a:ea typeface="Times New Roman"/>
                <a:cs typeface="Times New Roman"/>
                <a:sym typeface="Times New Roman"/>
              </a:rPr>
              <a:t>31</a:t>
            </a:fld>
            <a:endParaRPr sz="12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456F5-A229-10B2-EDED-2ECFC7E2A201}"/>
              </a:ext>
            </a:extLst>
          </p:cNvPr>
          <p:cNvSpPr>
            <a:spLocks noGrp="1"/>
          </p:cNvSpPr>
          <p:nvPr>
            <p:ph type="title"/>
          </p:nvPr>
        </p:nvSpPr>
        <p:spPr/>
        <p:txBody>
          <a:bodyPr>
            <a:normAutofit/>
          </a:bodyPr>
          <a:lstStyle/>
          <a:p>
            <a:r>
              <a:rPr lang="en-US" sz="4400" b="1" u="sng" dirty="0">
                <a:solidFill>
                  <a:schemeClr val="accent2"/>
                </a:solidFill>
                <a:latin typeface="Times New Roman" panose="02020603050405020304" pitchFamily="18" charset="0"/>
                <a:cs typeface="Times New Roman" panose="02020603050405020304" pitchFamily="18" charset="0"/>
              </a:rPr>
              <a:t>FUTURE SCOPE</a:t>
            </a:r>
            <a:endParaRPr lang="en-IN" sz="4400" b="1" u="sng" dirty="0">
              <a:solidFill>
                <a:schemeClr val="accent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3543A1D-8B45-4581-3DCF-A5EF2E3EB9DF}"/>
              </a:ext>
            </a:extLst>
          </p:cNvPr>
          <p:cNvSpPr>
            <a:spLocks noGrp="1"/>
          </p:cNvSpPr>
          <p:nvPr>
            <p:ph type="body" idx="1"/>
          </p:nvPr>
        </p:nvSpPr>
        <p:spPr/>
        <p:txBody>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Incorporate real-time emotion recognition for interactive applications.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Extend the model to multimodal emotion recognition by combining audio with facial expressions or text.</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Explore transfer learning with larger pre-trained models for better performance.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Improve robustness to noise and different accents or speech variations.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Deploy the system in real-world applications like virtual assistants, call centers, and mental health monitoring.</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Expand the dataset to include more diverse languages and emotional categories.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3B11644-DDA8-2BC9-7C4D-A96085F774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4284462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60"/>
          <p:cNvSpPr txBox="1">
            <a:spLocks noGrp="1"/>
          </p:cNvSpPr>
          <p:nvPr>
            <p:ph type="title"/>
          </p:nvPr>
        </p:nvSpPr>
        <p:spPr>
          <a:xfrm>
            <a:off x="984925" y="226278"/>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accent2"/>
              </a:buClr>
              <a:buSzPts val="4800"/>
              <a:buFont typeface="Times New Roman"/>
              <a:buNone/>
            </a:pPr>
            <a:r>
              <a:rPr lang="en-US" b="1" u="sng" dirty="0">
                <a:solidFill>
                  <a:schemeClr val="accent2"/>
                </a:solidFill>
                <a:latin typeface="Times New Roman"/>
                <a:ea typeface="Times New Roman"/>
                <a:cs typeface="Times New Roman"/>
                <a:sym typeface="Times New Roman"/>
              </a:rPr>
              <a:t>References </a:t>
            </a:r>
            <a:endParaRPr b="1" u="sng" dirty="0">
              <a:solidFill>
                <a:schemeClr val="accent2"/>
              </a:solidFill>
              <a:highlight>
                <a:srgbClr val="FFFF00"/>
              </a:highlight>
              <a:latin typeface="Times New Roman"/>
              <a:ea typeface="Times New Roman"/>
              <a:cs typeface="Times New Roman"/>
              <a:sym typeface="Times New Roman"/>
            </a:endParaRPr>
          </a:p>
        </p:txBody>
      </p:sp>
      <p:sp>
        <p:nvSpPr>
          <p:cNvPr id="513" name="Google Shape;513;p6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200">
                <a:latin typeface="Times New Roman"/>
                <a:ea typeface="Times New Roman"/>
                <a:cs typeface="Times New Roman"/>
                <a:sym typeface="Times New Roman"/>
              </a:rPr>
              <a:t>CENTRE FOR ARTIFICIAL INTELLIGENCE, TKMCE</a:t>
            </a:r>
            <a:endParaRPr/>
          </a:p>
        </p:txBody>
      </p:sp>
      <p:sp>
        <p:nvSpPr>
          <p:cNvPr id="514" name="Google Shape;514;p6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latin typeface="Times New Roman"/>
                <a:ea typeface="Times New Roman"/>
                <a:cs typeface="Times New Roman"/>
                <a:sym typeface="Times New Roman"/>
              </a:rPr>
              <a:t>33</a:t>
            </a:fld>
            <a:endParaRPr sz="1200">
              <a:latin typeface="Times New Roman"/>
              <a:ea typeface="Times New Roman"/>
              <a:cs typeface="Times New Roman"/>
              <a:sym typeface="Times New Roman"/>
            </a:endParaRPr>
          </a:p>
        </p:txBody>
      </p:sp>
      <p:sp>
        <p:nvSpPr>
          <p:cNvPr id="515" name="Google Shape;515;p60"/>
          <p:cNvSpPr txBox="1"/>
          <p:nvPr/>
        </p:nvSpPr>
        <p:spPr>
          <a:xfrm>
            <a:off x="1066800" y="1866085"/>
            <a:ext cx="10058400" cy="338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600">
              <a:solidFill>
                <a:schemeClr val="dk1"/>
              </a:solidFill>
              <a:latin typeface="Times New Roman"/>
              <a:ea typeface="Times New Roman"/>
              <a:cs typeface="Times New Roman"/>
              <a:sym typeface="Times New Roman"/>
            </a:endParaRPr>
          </a:p>
        </p:txBody>
      </p:sp>
      <p:sp>
        <p:nvSpPr>
          <p:cNvPr id="516" name="Google Shape;516;p60"/>
          <p:cNvSpPr txBox="1"/>
          <p:nvPr/>
        </p:nvSpPr>
        <p:spPr>
          <a:xfrm>
            <a:off x="872575" y="1844950"/>
            <a:ext cx="10283100" cy="4525370"/>
          </a:xfrm>
          <a:prstGeom prst="rect">
            <a:avLst/>
          </a:prstGeom>
          <a:noFill/>
          <a:ln>
            <a:noFill/>
          </a:ln>
        </p:spPr>
        <p:txBody>
          <a:bodyPr spcFirstLastPara="1" wrap="square" lIns="91425" tIns="91425" rIns="91425" bIns="91425" anchor="t" anchorCtr="0">
            <a:noAutofit/>
          </a:bodyPr>
          <a:lstStyle/>
          <a:p>
            <a:pPr algn="just"/>
            <a:r>
              <a:rPr lang="en-US" sz="1600" dirty="0">
                <a:latin typeface="Times New Roman" panose="02020603050405020304" pitchFamily="18" charset="0"/>
                <a:cs typeface="Times New Roman" panose="02020603050405020304" pitchFamily="18" charset="0"/>
              </a:rPr>
              <a:t>[1] S. Ma, C. Luo, C. Fan, and J. Hu, “Clustering Based Speech Emotion Recognition by Incorporating Learned Features and Deep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Applied Sciences, vol. 11, no. 22, p. 10854, 2021,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10.3390/app112210854.</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[2] J. Y. Lee, H. Choi, and K. Lee, “Classification of Speech Emotion State Based on Feature Map Fusion of TCN and Pretrained CNN Model From Korean Speech Emotion Data,” IEEE Access, vol. 10, pp. 116339–116351, 2022,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10.1109/ACCESS.2022.3217166.</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[3] D. Kwon, Y. Park, H. Kim, and J. Lee, “3D Convolutional Neural Network for Speech Emotion Recognition With Its Realization on Intel CPU and NVIDIA GPU,” in Proc. Int. Conf. Artificial Intelligence in Information and Communication (ICAIIC), 2021, pp. 196–201,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10.1109/ICAIIC51459.2021.9415211.</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[4] A. Ghosh, D. Sen, and A. Das, “Autoencoder With Emotion Embedding for Speech Emotion Recognition,” IEEE Access, vol. 10, pp. 12345–12356, 2022,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10.1109/ACCESS.2022.3146783.</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[5] M. Rehman, Z. Ali, and J. Gwak, “Lightweight Deep Learning Framework for Speech Emotion Recognition,” Sensors, vol. 22, no. 14, p. 5191, 2022,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10.3390/s22145191.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6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ctr" rtl="0">
              <a:lnSpc>
                <a:spcPct val="90000"/>
              </a:lnSpc>
              <a:spcBef>
                <a:spcPts val="0"/>
              </a:spcBef>
              <a:spcAft>
                <a:spcPts val="0"/>
              </a:spcAft>
              <a:buSzPts val="6500"/>
              <a:buNone/>
            </a:pPr>
            <a:endParaRPr sz="6500" dirty="0">
              <a:solidFill>
                <a:schemeClr val="accent2"/>
              </a:solidFill>
              <a:latin typeface="Times New Roman"/>
              <a:ea typeface="Times New Roman"/>
              <a:cs typeface="Times New Roman"/>
              <a:sym typeface="Times New Roman"/>
            </a:endParaRPr>
          </a:p>
          <a:p>
            <a:pPr marL="91440" lvl="0" indent="-476250" algn="ctr" rtl="0">
              <a:lnSpc>
                <a:spcPct val="90000"/>
              </a:lnSpc>
              <a:spcBef>
                <a:spcPts val="1400"/>
              </a:spcBef>
              <a:spcAft>
                <a:spcPts val="0"/>
              </a:spcAft>
              <a:buSzPts val="7500"/>
              <a:buChar char=" "/>
            </a:pPr>
            <a:r>
              <a:rPr lang="en-US" sz="7500" b="1" dirty="0">
                <a:solidFill>
                  <a:schemeClr val="accent2"/>
                </a:solidFill>
                <a:latin typeface="Times New Roman"/>
                <a:ea typeface="Times New Roman"/>
                <a:cs typeface="Times New Roman"/>
                <a:sym typeface="Times New Roman"/>
              </a:rPr>
              <a:t>THANK YOU!</a:t>
            </a:r>
            <a:endParaRPr dirty="0"/>
          </a:p>
        </p:txBody>
      </p:sp>
      <p:sp>
        <p:nvSpPr>
          <p:cNvPr id="522" name="Google Shape;522;p6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200">
                <a:latin typeface="Times New Roman"/>
                <a:ea typeface="Times New Roman"/>
                <a:cs typeface="Times New Roman"/>
                <a:sym typeface="Times New Roman"/>
              </a:rPr>
              <a:t>CENTRE FOR ARTIFICIAL INTELLIGENCE, TKMCE</a:t>
            </a:r>
            <a:endParaRPr/>
          </a:p>
        </p:txBody>
      </p:sp>
      <p:sp>
        <p:nvSpPr>
          <p:cNvPr id="523" name="Google Shape;523;p6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latin typeface="Times New Roman"/>
                <a:ea typeface="Times New Roman"/>
                <a:cs typeface="Times New Roman"/>
                <a:sym typeface="Times New Roman"/>
              </a:rPr>
              <a:t>34</a:t>
            </a:fld>
            <a:endParaRPr sz="1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Retrospect">
  <a:themeElements>
    <a:clrScheme name="Custom 1">
      <a:dk1>
        <a:srgbClr val="000000"/>
      </a:dk1>
      <a:lt1>
        <a:srgbClr val="FFFFFF"/>
      </a:lt1>
      <a:dk2>
        <a:srgbClr val="637052"/>
      </a:dk2>
      <a:lt2>
        <a:srgbClr val="CCDDEA"/>
      </a:lt2>
      <a:accent1>
        <a:srgbClr val="E48312"/>
      </a:accent1>
      <a:accent2>
        <a:srgbClr val="0070C0"/>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3662</TotalTime>
  <Words>3471</Words>
  <Application>Microsoft Office PowerPoint</Application>
  <PresentationFormat>Widescreen</PresentationFormat>
  <Paragraphs>391</Paragraphs>
  <Slides>34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Noto Sans Symbols</vt:lpstr>
      <vt:lpstr>Times New Roman</vt:lpstr>
      <vt:lpstr>Wingdings</vt:lpstr>
      <vt:lpstr>Retrospect</vt:lpstr>
      <vt:lpstr> A DEEP LEARNING BASED APPROACH FOR  SPEECH EMOTION RECOGNITION</vt:lpstr>
      <vt:lpstr>Contents</vt:lpstr>
      <vt:lpstr>Introduction</vt:lpstr>
      <vt:lpstr>Literature Review</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Contd…</vt:lpstr>
      <vt:lpstr>Research Gaps Identified</vt:lpstr>
      <vt:lpstr>Objective</vt:lpstr>
      <vt:lpstr>Methodology</vt:lpstr>
      <vt:lpstr>Dataset</vt:lpstr>
      <vt:lpstr>Results and Discussion</vt:lpstr>
      <vt:lpstr>Contd…</vt:lpstr>
      <vt:lpstr>Contd…</vt:lpstr>
      <vt:lpstr> Feature Comparison</vt:lpstr>
      <vt:lpstr>Contd…</vt:lpstr>
      <vt:lpstr>Contd…</vt:lpstr>
      <vt:lpstr>Conclusion</vt:lpstr>
      <vt:lpstr>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DEEP LEARNING BASED APPROACH FOR  SPEECH EMOTION RECOGNITION</dc:title>
  <dc:creator>Alen M John</dc:creator>
  <cp:lastModifiedBy>Alen M John</cp:lastModifiedBy>
  <cp:revision>38</cp:revision>
  <dcterms:modified xsi:type="dcterms:W3CDTF">2025-05-08T17:17:23Z</dcterms:modified>
</cp:coreProperties>
</file>